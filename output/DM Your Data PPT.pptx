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6" r:id="rId8"/>
    <p:sldId id="267" r:id="rId9"/>
    <p:sldId id="262" r:id="rId10"/>
    <p:sldId id="263" r:id="rId11"/>
    <p:sldId id="264" r:id="rId12"/>
    <p:sldId id="265" r:id="rId13"/>
  </p:sldIdLst>
  <p:sldSz cx="12192000" cy="6858000"/>
  <p:notesSz cx="6858000" cy="12192000"/>
  <p:embeddedFontLst>
    <p:embeddedFont>
      <p:font typeface="Corben" panose="020B0604020202020204" charset="0"/>
      <p:regular r:id="rId15"/>
    </p:embeddedFont>
    <p:embeddedFont>
      <p:font typeface="Nobile"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8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854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girishsakpal/DM-Your-Data"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5" name="Text 3"/>
          <p:cNvSpPr/>
          <p:nvPr/>
        </p:nvSpPr>
        <p:spPr>
          <a:xfrm>
            <a:off x="661471" y="2627676"/>
            <a:ext cx="10868745" cy="760709"/>
          </a:xfrm>
          <a:prstGeom prst="rect">
            <a:avLst/>
          </a:prstGeom>
          <a:noFill/>
          <a:ln/>
        </p:spPr>
        <p:txBody>
          <a:bodyPr wrap="none" lIns="0" tIns="0" rIns="0" bIns="0" rtlCol="0" anchor="t"/>
          <a:lstStyle/>
          <a:p>
            <a:pPr marL="0" indent="0" algn="l">
              <a:lnSpc>
                <a:spcPct val="104000"/>
              </a:lnSpc>
              <a:buNone/>
            </a:pPr>
            <a:r>
              <a:rPr lang="en-US" sz="4800" dirty="0">
                <a:solidFill>
                  <a:srgbClr val="1B1B27"/>
                </a:solidFill>
                <a:latin typeface="Corben" pitchFamily="34" charset="0"/>
                <a:ea typeface="Corben" pitchFamily="34" charset="-122"/>
                <a:cs typeface="Corben" pitchFamily="34" charset="-120"/>
              </a:rPr>
              <a:t>DM Your Data</a:t>
            </a:r>
            <a:endParaRPr lang="en-US" sz="4800" dirty="0"/>
          </a:p>
        </p:txBody>
      </p:sp>
      <p:sp>
        <p:nvSpPr>
          <p:cNvPr id="6" name="Text 4"/>
          <p:cNvSpPr/>
          <p:nvPr/>
        </p:nvSpPr>
        <p:spPr>
          <a:xfrm>
            <a:off x="661472" y="3611601"/>
            <a:ext cx="10868745" cy="923329"/>
          </a:xfrm>
          <a:prstGeom prst="rect">
            <a:avLst/>
          </a:prstGeom>
          <a:noFill/>
          <a:ln/>
        </p:spPr>
        <p:txBody>
          <a:bodyPr wrap="square" lIns="0" tIns="0" rIns="0" bIns="0" rtlCol="0" anchor="t">
            <a:noAutofit/>
          </a:bodyPr>
          <a:lstStyle/>
          <a:p>
            <a:pPr marL="0" indent="0" algn="l">
              <a:lnSpc>
                <a:spcPct val="133000"/>
              </a:lnSpc>
              <a:buNone/>
            </a:pPr>
            <a:r>
              <a:rPr lang="en-US" sz="2000" dirty="0">
                <a:solidFill>
                  <a:srgbClr val="404155"/>
                </a:solidFill>
                <a:latin typeface="Nobile" pitchFamily="34" charset="0"/>
                <a:ea typeface="Nobile" pitchFamily="34" charset="-122"/>
                <a:cs typeface="Nobile" pitchFamily="34" charset="-120"/>
              </a:rPr>
              <a:t>A hybrid RAG system that lets you query tabular data in plain English, combining LLM-generated SQL with vector-based semantic search.   </a:t>
            </a:r>
            <a:endParaRPr lang="en-US" sz="2000" dirty="0"/>
          </a:p>
        </p:txBody>
      </p:sp>
      <p:sp>
        <p:nvSpPr>
          <p:cNvPr id="19" name="Text 13"/>
          <p:cNvSpPr/>
          <p:nvPr/>
        </p:nvSpPr>
        <p:spPr>
          <a:xfrm>
            <a:off x="661472" y="5649333"/>
            <a:ext cx="10868745" cy="604838"/>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pic>
        <p:nvPicPr>
          <p:cNvPr id="21" name="Picture 20">
            <a:extLst>
              <a:ext uri="{FF2B5EF4-FFF2-40B4-BE49-F238E27FC236}">
                <a16:creationId xmlns:a16="http://schemas.microsoft.com/office/drawing/2014/main" id="{1764982E-2742-EE04-EAA9-8D20012213AE}"/>
              </a:ext>
            </a:extLst>
          </p:cNvPr>
          <p:cNvPicPr>
            <a:picLocks noChangeAspect="1"/>
          </p:cNvPicPr>
          <p:nvPr/>
        </p:nvPicPr>
        <p:blipFill>
          <a:blip r:embed="rId3"/>
          <a:stretch>
            <a:fillRect/>
          </a:stretch>
        </p:blipFill>
        <p:spPr>
          <a:xfrm>
            <a:off x="1836461" y="314453"/>
            <a:ext cx="8518769" cy="1536966"/>
          </a:xfrm>
          <a:prstGeom prst="rect">
            <a:avLst/>
          </a:prstGeom>
        </p:spPr>
      </p:pic>
      <p:sp>
        <p:nvSpPr>
          <p:cNvPr id="22" name="TextBox 21">
            <a:extLst>
              <a:ext uri="{FF2B5EF4-FFF2-40B4-BE49-F238E27FC236}">
                <a16:creationId xmlns:a16="http://schemas.microsoft.com/office/drawing/2014/main" id="{728D315D-18E9-30BD-60A8-D62B3BF4BBAC}"/>
              </a:ext>
            </a:extLst>
          </p:cNvPr>
          <p:cNvSpPr txBox="1"/>
          <p:nvPr/>
        </p:nvSpPr>
        <p:spPr>
          <a:xfrm>
            <a:off x="3353505" y="1851419"/>
            <a:ext cx="5484679" cy="369332"/>
          </a:xfrm>
          <a:prstGeom prst="rect">
            <a:avLst/>
          </a:prstGeom>
          <a:noFill/>
        </p:spPr>
        <p:txBody>
          <a:bodyPr wrap="square" rtlCol="0">
            <a:spAutoFit/>
          </a:bodyPr>
          <a:lstStyle/>
          <a:p>
            <a:r>
              <a:rPr lang="en-IN" b="1" dirty="0"/>
              <a:t>CSDOL7011: Natural Language Processing - Mini Project</a:t>
            </a:r>
          </a:p>
        </p:txBody>
      </p:sp>
      <p:sp>
        <p:nvSpPr>
          <p:cNvPr id="24" name="TextBox 23">
            <a:extLst>
              <a:ext uri="{FF2B5EF4-FFF2-40B4-BE49-F238E27FC236}">
                <a16:creationId xmlns:a16="http://schemas.microsoft.com/office/drawing/2014/main" id="{7441A293-C641-9763-318A-5054EE0D85C4}"/>
              </a:ext>
            </a:extLst>
          </p:cNvPr>
          <p:cNvSpPr txBox="1"/>
          <p:nvPr/>
        </p:nvSpPr>
        <p:spPr>
          <a:xfrm>
            <a:off x="661472" y="4758146"/>
            <a:ext cx="5364188" cy="923330"/>
          </a:xfrm>
          <a:prstGeom prst="rect">
            <a:avLst/>
          </a:prstGeom>
          <a:noFill/>
        </p:spPr>
        <p:txBody>
          <a:bodyPr wrap="square" rtlCol="0">
            <a:spAutoFit/>
          </a:bodyPr>
          <a:lstStyle/>
          <a:p>
            <a:r>
              <a:rPr lang="en-US" b="1" dirty="0"/>
              <a:t>Name: </a:t>
            </a:r>
            <a:r>
              <a:rPr lang="en-US" dirty="0"/>
              <a:t>Girish </a:t>
            </a:r>
            <a:r>
              <a:rPr lang="en-US" dirty="0" err="1"/>
              <a:t>Dayaghan</a:t>
            </a:r>
            <a:r>
              <a:rPr lang="en-US" dirty="0"/>
              <a:t> </a:t>
            </a:r>
            <a:r>
              <a:rPr lang="en-US" dirty="0" err="1"/>
              <a:t>Sakpal</a:t>
            </a:r>
            <a:endParaRPr lang="en-US" dirty="0"/>
          </a:p>
          <a:p>
            <a:r>
              <a:rPr lang="en-US" b="1" dirty="0"/>
              <a:t>UIN: </a:t>
            </a:r>
            <a:r>
              <a:rPr lang="en-US" dirty="0"/>
              <a:t>231A011</a:t>
            </a:r>
          </a:p>
          <a:p>
            <a:r>
              <a:rPr lang="en-US" b="1" dirty="0"/>
              <a:t>Class: </a:t>
            </a:r>
            <a:r>
              <a:rPr lang="en-US" dirty="0"/>
              <a:t>BE – AI&amp;DS</a:t>
            </a:r>
            <a:endParaRPr lang="en-IN" b="1"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616446"/>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B1B27"/>
                </a:solidFill>
                <a:latin typeface="Corben" pitchFamily="34" charset="0"/>
                <a:ea typeface="Corben" pitchFamily="34" charset="-122"/>
                <a:cs typeface="Corben" pitchFamily="34" charset="-120"/>
              </a:rPr>
              <a:t>One tool, stretched over two different jobs</a:t>
            </a:r>
            <a:endParaRPr lang="en-US" sz="2950" dirty="0"/>
          </a:p>
        </p:txBody>
      </p:sp>
      <p:sp>
        <p:nvSpPr>
          <p:cNvPr id="3" name="Text 1"/>
          <p:cNvSpPr/>
          <p:nvPr/>
        </p:nvSpPr>
        <p:spPr>
          <a:xfrm>
            <a:off x="661475" y="1466949"/>
            <a:ext cx="1086874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4155"/>
                </a:solidFill>
                <a:latin typeface="Nobile" pitchFamily="34" charset="0"/>
                <a:ea typeface="Nobile" pitchFamily="34" charset="-122"/>
                <a:cs typeface="Nobile" pitchFamily="34" charset="-120"/>
              </a:rPr>
              <a:t>Precise aggregation and conceptual meaning-matching are fundamentally different tasks. Most "chat with your data" demos pick one trick and stretch it too far, yielding brittle or incorrect answers when the question type doesn't match the underlying method.   </a:t>
            </a:r>
            <a:endParaRPr lang="en-US" sz="1450" dirty="0"/>
          </a:p>
        </p:txBody>
      </p:sp>
      <p:sp>
        <p:nvSpPr>
          <p:cNvPr id="4" name="Text 2"/>
          <p:cNvSpPr/>
          <p:nvPr/>
        </p:nvSpPr>
        <p:spPr>
          <a:xfrm>
            <a:off x="661475" y="2775843"/>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Corben" pitchFamily="34" charset="0"/>
                <a:ea typeface="Corben" pitchFamily="34" charset="-122"/>
                <a:cs typeface="Corben" pitchFamily="34" charset="-120"/>
              </a:rPr>
              <a:t>Pure text-to-SQL</a:t>
            </a:r>
            <a:endParaRPr lang="en-US" sz="1850" dirty="0"/>
          </a:p>
        </p:txBody>
      </p:sp>
      <p:sp>
        <p:nvSpPr>
          <p:cNvPr id="5" name="Text 3"/>
          <p:cNvSpPr/>
          <p:nvPr/>
        </p:nvSpPr>
        <p:spPr>
          <a:xfrm>
            <a:off x="661475" y="3260130"/>
            <a:ext cx="5203794" cy="1946672"/>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Excellent at precise aggregation such as counts, averages, filters, sorting.</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Cannot represent feelings or concepts e.g., "reviews that sound frustrated".</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Breaks when the question is conceptual rather than structural.</a:t>
            </a:r>
            <a:endParaRPr lang="en-US" sz="1450" dirty="0"/>
          </a:p>
        </p:txBody>
      </p:sp>
      <p:sp>
        <p:nvSpPr>
          <p:cNvPr id="6" name="Text 4"/>
          <p:cNvSpPr/>
          <p:nvPr/>
        </p:nvSpPr>
        <p:spPr>
          <a:xfrm>
            <a:off x="6332776" y="2775843"/>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Corben" pitchFamily="34" charset="0"/>
                <a:ea typeface="Corben" pitchFamily="34" charset="-122"/>
                <a:cs typeface="Corben" pitchFamily="34" charset="-120"/>
              </a:rPr>
              <a:t>Pure vector search</a:t>
            </a:r>
            <a:endParaRPr lang="en-US" sz="1850" dirty="0"/>
          </a:p>
        </p:txBody>
      </p:sp>
      <p:sp>
        <p:nvSpPr>
          <p:cNvPr id="7" name="Text 5"/>
          <p:cNvSpPr/>
          <p:nvPr/>
        </p:nvSpPr>
        <p:spPr>
          <a:xfrm>
            <a:off x="6332776" y="3260130"/>
            <a:ext cx="5203794" cy="1946672"/>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Excellent at fuzzy, conceptual, meaning-based matching.</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Cannot reliably perform arithmetic or exact aggregations like "average price by category".</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Breaks when an exact number or strict filter is required.</a:t>
            </a:r>
            <a:endParaRPr lang="en-US" sz="1450" dirty="0"/>
          </a:p>
        </p:txBody>
      </p:sp>
      <p:sp>
        <p:nvSpPr>
          <p:cNvPr id="8" name="Shape 6"/>
          <p:cNvSpPr/>
          <p:nvPr/>
        </p:nvSpPr>
        <p:spPr>
          <a:xfrm>
            <a:off x="661475" y="5485507"/>
            <a:ext cx="10868745" cy="755948"/>
          </a:xfrm>
          <a:prstGeom prst="roundRect">
            <a:avLst>
              <a:gd name="adj" fmla="val 10502"/>
            </a:avLst>
          </a:prstGeom>
          <a:solidFill>
            <a:srgbClr val="D2D9F9"/>
          </a:solidFill>
          <a:ln/>
        </p:spPr>
      </p:sp>
      <p:pic>
        <p:nvPicPr>
          <p:cNvPr id="9" name="Image 0" descr="preencoded.png"/>
          <p:cNvPicPr>
            <a:picLocks noChangeAspect="1"/>
          </p:cNvPicPr>
          <p:nvPr/>
        </p:nvPicPr>
        <p:blipFill>
          <a:blip r:embed="rId3"/>
          <a:stretch>
            <a:fillRect/>
          </a:stretch>
        </p:blipFill>
        <p:spPr>
          <a:xfrm>
            <a:off x="850482" y="5753199"/>
            <a:ext cx="236234" cy="189012"/>
          </a:xfrm>
          <a:prstGeom prst="rect">
            <a:avLst/>
          </a:prstGeom>
        </p:spPr>
      </p:pic>
      <p:sp>
        <p:nvSpPr>
          <p:cNvPr id="10" name="Text 7"/>
          <p:cNvSpPr/>
          <p:nvPr/>
        </p:nvSpPr>
        <p:spPr>
          <a:xfrm>
            <a:off x="1275723" y="5721747"/>
            <a:ext cx="10675075" cy="302419"/>
          </a:xfrm>
          <a:prstGeom prst="rect">
            <a:avLst/>
          </a:prstGeom>
          <a:noFill/>
          <a:ln/>
        </p:spPr>
        <p:txBody>
          <a:bodyPr wrap="none" lIns="0" tIns="0" rIns="0" bIns="0" rtlCol="0" anchor="t"/>
          <a:lstStyle/>
          <a:p>
            <a:pPr marL="0" indent="0" algn="l">
              <a:lnSpc>
                <a:spcPct val="133000"/>
              </a:lnSpc>
              <a:buNone/>
            </a:pPr>
            <a:r>
              <a:rPr lang="en-US" sz="1450" dirty="0">
                <a:solidFill>
                  <a:srgbClr val="000000"/>
                </a:solidFill>
                <a:latin typeface="Nobile" pitchFamily="34" charset="0"/>
                <a:ea typeface="Nobile" pitchFamily="34" charset="-122"/>
                <a:cs typeface="Nobile" pitchFamily="34" charset="-120"/>
              </a:rPr>
              <a:t>The mismatch between semantic intent and structural computation is the core problem we solve with routing.</a:t>
            </a:r>
            <a:endParaRPr lang="en-US" sz="1450"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D2D9F9"/>
          </a:solidFill>
          <a:ln/>
        </p:spPr>
      </p:sp>
      <p:sp>
        <p:nvSpPr>
          <p:cNvPr id="4" name="Text 1"/>
          <p:cNvSpPr/>
          <p:nvPr/>
        </p:nvSpPr>
        <p:spPr>
          <a:xfrm>
            <a:off x="661475" y="585688"/>
            <a:ext cx="6296860" cy="756047"/>
          </a:xfrm>
          <a:prstGeom prst="rect">
            <a:avLst/>
          </a:prstGeom>
          <a:noFill/>
          <a:ln/>
        </p:spPr>
        <p:txBody>
          <a:bodyPr wrap="square" lIns="0" tIns="0" rIns="0" bIns="0" rtlCol="0" anchor="t">
            <a:normAutofit/>
          </a:bodyPr>
          <a:lstStyle/>
          <a:p>
            <a:pPr marL="0" indent="0" algn="l">
              <a:lnSpc>
                <a:spcPct val="104000"/>
              </a:lnSpc>
              <a:buNone/>
            </a:pPr>
            <a:r>
              <a:rPr lang="en-US" sz="2350" dirty="0">
                <a:solidFill>
                  <a:srgbClr val="1B1B27"/>
                </a:solidFill>
                <a:latin typeface="Corben" pitchFamily="34" charset="0"/>
                <a:ea typeface="Corben" pitchFamily="34" charset="-122"/>
                <a:cs typeface="Corben" pitchFamily="34" charset="-120"/>
              </a:rPr>
              <a:t>DM Your Data picks the right lane - and a third lane for when it's both</a:t>
            </a:r>
            <a:endParaRPr lang="en-US" sz="2350" dirty="0"/>
          </a:p>
        </p:txBody>
      </p:sp>
      <p:sp>
        <p:nvSpPr>
          <p:cNvPr id="5" name="Text 2"/>
          <p:cNvSpPr/>
          <p:nvPr/>
        </p:nvSpPr>
        <p:spPr>
          <a:xfrm>
            <a:off x="661475" y="1523107"/>
            <a:ext cx="6296860" cy="653058"/>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404155"/>
                </a:solidFill>
                <a:latin typeface="Nobile" pitchFamily="34" charset="0"/>
                <a:ea typeface="Nobile" pitchFamily="34" charset="-122"/>
                <a:cs typeface="Nobile" pitchFamily="34" charset="-120"/>
              </a:rPr>
              <a:t>The system classifies each question into one of three modes: Structured (SQL), Semantic (vector search), or Hybrid (a deterministic mix). The classifier is visible and auditable in the UI — we show which lane was chosen and why.   </a:t>
            </a:r>
            <a:endParaRPr lang="en-US" sz="1150" dirty="0"/>
          </a:p>
        </p:txBody>
      </p:sp>
      <p:sp>
        <p:nvSpPr>
          <p:cNvPr id="6" name="Shape 3"/>
          <p:cNvSpPr/>
          <p:nvPr/>
        </p:nvSpPr>
        <p:spPr>
          <a:xfrm>
            <a:off x="661475" y="2312194"/>
            <a:ext cx="3087908" cy="1851521"/>
          </a:xfrm>
          <a:prstGeom prst="roundRect">
            <a:avLst>
              <a:gd name="adj" fmla="val 3430"/>
            </a:avLst>
          </a:prstGeom>
          <a:solidFill>
            <a:srgbClr val="D2D9F9"/>
          </a:solidFill>
          <a:ln w="6350">
            <a:solidFill>
              <a:srgbClr val="B8BFDF"/>
            </a:solidFill>
            <a:prstDash val="solid"/>
          </a:ln>
        </p:spPr>
      </p:sp>
      <p:sp>
        <p:nvSpPr>
          <p:cNvPr id="7" name="Shape 4"/>
          <p:cNvSpPr/>
          <p:nvPr/>
        </p:nvSpPr>
        <p:spPr>
          <a:xfrm>
            <a:off x="819030" y="2469753"/>
            <a:ext cx="453617" cy="453628"/>
          </a:xfrm>
          <a:prstGeom prst="ellipse">
            <a:avLst/>
          </a:prstGeom>
          <a:solidFill>
            <a:srgbClr val="4967E9"/>
          </a:solidFill>
          <a:ln/>
        </p:spPr>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3745" y="2594471"/>
            <a:ext cx="204088" cy="204093"/>
          </a:xfrm>
          <a:prstGeom prst="rect">
            <a:avLst/>
          </a:prstGeom>
        </p:spPr>
      </p:pic>
      <p:sp>
        <p:nvSpPr>
          <p:cNvPr id="9" name="Text 5"/>
          <p:cNvSpPr/>
          <p:nvPr/>
        </p:nvSpPr>
        <p:spPr>
          <a:xfrm>
            <a:off x="819030" y="3044329"/>
            <a:ext cx="2772797" cy="236240"/>
          </a:xfrm>
          <a:prstGeom prst="rect">
            <a:avLst/>
          </a:prstGeom>
          <a:noFill/>
          <a:ln/>
        </p:spPr>
        <p:txBody>
          <a:bodyPr wrap="none" lIns="0" tIns="0" rIns="0" bIns="0" rtlCol="0" anchor="t"/>
          <a:lstStyle/>
          <a:p>
            <a:pPr marL="0" indent="0" algn="l">
              <a:lnSpc>
                <a:spcPct val="104000"/>
              </a:lnSpc>
              <a:buNone/>
            </a:pPr>
            <a:r>
              <a:rPr lang="en-US" sz="1450" dirty="0">
                <a:solidFill>
                  <a:srgbClr val="404155"/>
                </a:solidFill>
                <a:latin typeface="Corben" pitchFamily="34" charset="0"/>
                <a:ea typeface="Corben" pitchFamily="34" charset="-122"/>
                <a:cs typeface="Corben" pitchFamily="34" charset="-120"/>
              </a:rPr>
              <a:t>Structured (SQL)</a:t>
            </a:r>
            <a:endParaRPr lang="en-US" sz="1450" dirty="0"/>
          </a:p>
        </p:txBody>
      </p:sp>
      <p:sp>
        <p:nvSpPr>
          <p:cNvPr id="10" name="Text 6"/>
          <p:cNvSpPr/>
          <p:nvPr/>
        </p:nvSpPr>
        <p:spPr>
          <a:xfrm>
            <a:off x="819030" y="3353098"/>
            <a:ext cx="2772797"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404155"/>
                </a:solidFill>
                <a:latin typeface="Nobile" pitchFamily="34" charset="0"/>
                <a:ea typeface="Nobile" pitchFamily="34" charset="-122"/>
                <a:cs typeface="Nobile" pitchFamily="34" charset="-120"/>
              </a:rPr>
              <a:t>"Average price by category" - exact aggregations executed in Postgres.</a:t>
            </a:r>
            <a:endParaRPr lang="en-US" sz="1150" dirty="0"/>
          </a:p>
        </p:txBody>
      </p:sp>
      <p:sp>
        <p:nvSpPr>
          <p:cNvPr id="11" name="Shape 7"/>
          <p:cNvSpPr/>
          <p:nvPr/>
        </p:nvSpPr>
        <p:spPr>
          <a:xfrm>
            <a:off x="3870327" y="2312194"/>
            <a:ext cx="3088007" cy="1851521"/>
          </a:xfrm>
          <a:prstGeom prst="roundRect">
            <a:avLst>
              <a:gd name="adj" fmla="val 3430"/>
            </a:avLst>
          </a:prstGeom>
          <a:solidFill>
            <a:srgbClr val="D2D9F9"/>
          </a:solidFill>
          <a:ln w="6350">
            <a:solidFill>
              <a:srgbClr val="B8BFDF"/>
            </a:solidFill>
            <a:prstDash val="solid"/>
          </a:ln>
        </p:spPr>
      </p:sp>
      <p:sp>
        <p:nvSpPr>
          <p:cNvPr id="12" name="Shape 8"/>
          <p:cNvSpPr/>
          <p:nvPr/>
        </p:nvSpPr>
        <p:spPr>
          <a:xfrm>
            <a:off x="4027883" y="2469753"/>
            <a:ext cx="453617" cy="453628"/>
          </a:xfrm>
          <a:prstGeom prst="ellipse">
            <a:avLst/>
          </a:prstGeom>
          <a:solidFill>
            <a:srgbClr val="4967E9"/>
          </a:solidFill>
          <a:ln/>
        </p:spPr>
      </p:sp>
      <p:pic>
        <p:nvPicPr>
          <p:cNvPr id="13"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52598" y="2594471"/>
            <a:ext cx="204088" cy="204093"/>
          </a:xfrm>
          <a:prstGeom prst="rect">
            <a:avLst/>
          </a:prstGeom>
        </p:spPr>
      </p:pic>
      <p:sp>
        <p:nvSpPr>
          <p:cNvPr id="14" name="Text 9"/>
          <p:cNvSpPr/>
          <p:nvPr/>
        </p:nvSpPr>
        <p:spPr>
          <a:xfrm>
            <a:off x="4027883" y="3044329"/>
            <a:ext cx="2772896" cy="236240"/>
          </a:xfrm>
          <a:prstGeom prst="rect">
            <a:avLst/>
          </a:prstGeom>
          <a:noFill/>
          <a:ln/>
        </p:spPr>
        <p:txBody>
          <a:bodyPr wrap="none" lIns="0" tIns="0" rIns="0" bIns="0" rtlCol="0" anchor="t"/>
          <a:lstStyle/>
          <a:p>
            <a:pPr marL="0" indent="0" algn="l">
              <a:lnSpc>
                <a:spcPct val="104000"/>
              </a:lnSpc>
              <a:buNone/>
            </a:pPr>
            <a:r>
              <a:rPr lang="en-US" sz="1450" dirty="0">
                <a:solidFill>
                  <a:srgbClr val="404155"/>
                </a:solidFill>
                <a:latin typeface="Corben" pitchFamily="34" charset="0"/>
                <a:ea typeface="Corben" pitchFamily="34" charset="-122"/>
                <a:cs typeface="Corben" pitchFamily="34" charset="-120"/>
              </a:rPr>
              <a:t>Hybrid</a:t>
            </a:r>
            <a:endParaRPr lang="en-US" sz="1450" dirty="0"/>
          </a:p>
        </p:txBody>
      </p:sp>
      <p:sp>
        <p:nvSpPr>
          <p:cNvPr id="15" name="Text 10"/>
          <p:cNvSpPr/>
          <p:nvPr/>
        </p:nvSpPr>
        <p:spPr>
          <a:xfrm>
            <a:off x="4027883" y="3353098"/>
            <a:ext cx="2772896" cy="653058"/>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404155"/>
                </a:solidFill>
                <a:latin typeface="Nobile" pitchFamily="34" charset="0"/>
                <a:ea typeface="Nobile" pitchFamily="34" charset="-122"/>
                <a:cs typeface="Nobile" pitchFamily="34" charset="-120"/>
              </a:rPr>
              <a:t>"Frustrated customers in the West region" - filter rows with SQL, re-rank by semantic similarity.</a:t>
            </a:r>
            <a:endParaRPr lang="en-US" sz="1150" dirty="0"/>
          </a:p>
        </p:txBody>
      </p:sp>
      <p:sp>
        <p:nvSpPr>
          <p:cNvPr id="16" name="Shape 11"/>
          <p:cNvSpPr/>
          <p:nvPr/>
        </p:nvSpPr>
        <p:spPr>
          <a:xfrm>
            <a:off x="661475" y="4284663"/>
            <a:ext cx="6296860" cy="1416149"/>
          </a:xfrm>
          <a:prstGeom prst="roundRect">
            <a:avLst>
              <a:gd name="adj" fmla="val 4485"/>
            </a:avLst>
          </a:prstGeom>
          <a:solidFill>
            <a:srgbClr val="D2D9F9"/>
          </a:solidFill>
          <a:ln w="6350">
            <a:solidFill>
              <a:srgbClr val="B8BFDF"/>
            </a:solidFill>
            <a:prstDash val="solid"/>
          </a:ln>
        </p:spPr>
      </p:sp>
      <p:sp>
        <p:nvSpPr>
          <p:cNvPr id="17" name="Shape 12"/>
          <p:cNvSpPr/>
          <p:nvPr/>
        </p:nvSpPr>
        <p:spPr>
          <a:xfrm>
            <a:off x="819030" y="4442222"/>
            <a:ext cx="453617" cy="453628"/>
          </a:xfrm>
          <a:prstGeom prst="ellipse">
            <a:avLst/>
          </a:prstGeom>
          <a:solidFill>
            <a:srgbClr val="4967E9"/>
          </a:solidFill>
          <a:ln/>
        </p:spPr>
      </p:sp>
      <p:pic>
        <p:nvPicPr>
          <p:cNvPr id="18"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3745" y="4566940"/>
            <a:ext cx="204088" cy="204093"/>
          </a:xfrm>
          <a:prstGeom prst="rect">
            <a:avLst/>
          </a:prstGeom>
        </p:spPr>
      </p:pic>
      <p:sp>
        <p:nvSpPr>
          <p:cNvPr id="19" name="Text 13"/>
          <p:cNvSpPr/>
          <p:nvPr/>
        </p:nvSpPr>
        <p:spPr>
          <a:xfrm>
            <a:off x="819030" y="5016798"/>
            <a:ext cx="5981749" cy="236240"/>
          </a:xfrm>
          <a:prstGeom prst="rect">
            <a:avLst/>
          </a:prstGeom>
          <a:noFill/>
          <a:ln/>
        </p:spPr>
        <p:txBody>
          <a:bodyPr wrap="none" lIns="0" tIns="0" rIns="0" bIns="0" rtlCol="0" anchor="t"/>
          <a:lstStyle/>
          <a:p>
            <a:pPr marL="0" indent="0" algn="l">
              <a:lnSpc>
                <a:spcPct val="104000"/>
              </a:lnSpc>
              <a:buNone/>
            </a:pPr>
            <a:r>
              <a:rPr lang="en-US" sz="1450" dirty="0">
                <a:solidFill>
                  <a:srgbClr val="404155"/>
                </a:solidFill>
                <a:latin typeface="Corben" pitchFamily="34" charset="0"/>
                <a:ea typeface="Corben" pitchFamily="34" charset="-122"/>
                <a:cs typeface="Corben" pitchFamily="34" charset="-120"/>
              </a:rPr>
              <a:t>Semantic</a:t>
            </a:r>
            <a:endParaRPr lang="en-US" sz="1450" dirty="0"/>
          </a:p>
        </p:txBody>
      </p:sp>
      <p:sp>
        <p:nvSpPr>
          <p:cNvPr id="20" name="Text 14"/>
          <p:cNvSpPr/>
          <p:nvPr/>
        </p:nvSpPr>
        <p:spPr>
          <a:xfrm>
            <a:off x="819030" y="5325566"/>
            <a:ext cx="5981749" cy="217686"/>
          </a:xfrm>
          <a:prstGeom prst="rect">
            <a:avLst/>
          </a:prstGeom>
          <a:noFill/>
          <a:ln/>
        </p:spPr>
        <p:txBody>
          <a:bodyPr wrap="none" lIns="0" tIns="0" rIns="0" bIns="0" rtlCol="0" anchor="t"/>
          <a:lstStyle/>
          <a:p>
            <a:pPr marL="0" indent="0" algn="l">
              <a:lnSpc>
                <a:spcPct val="120000"/>
              </a:lnSpc>
              <a:buNone/>
            </a:pPr>
            <a:r>
              <a:rPr lang="en-US" sz="1150" dirty="0">
                <a:solidFill>
                  <a:srgbClr val="404155"/>
                </a:solidFill>
                <a:latin typeface="Nobile" pitchFamily="34" charset="0"/>
                <a:ea typeface="Nobile" pitchFamily="34" charset="-122"/>
                <a:cs typeface="Nobile" pitchFamily="34" charset="-120"/>
              </a:rPr>
              <a:t>"Reviews about slow shipping" - pgvector cosine search over embeddings.</a:t>
            </a:r>
            <a:endParaRPr lang="en-US" sz="1150" dirty="0"/>
          </a:p>
        </p:txBody>
      </p:sp>
      <p:sp>
        <p:nvSpPr>
          <p:cNvPr id="21" name="Text 15"/>
          <p:cNvSpPr/>
          <p:nvPr/>
        </p:nvSpPr>
        <p:spPr>
          <a:xfrm>
            <a:off x="661475" y="5836841"/>
            <a:ext cx="6296860"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404155"/>
                </a:solidFill>
                <a:latin typeface="Nobile" pitchFamily="34" charset="0"/>
                <a:ea typeface="Nobile" pitchFamily="34" charset="-122"/>
                <a:cs typeface="Nobile" pitchFamily="34" charset="-120"/>
              </a:rPr>
              <a:t> Every demo question lights up exactly one lane in the UI for transparency and debugging.</a:t>
            </a:r>
            <a:endParaRPr lang="en-US" sz="1150" dirty="0"/>
          </a:p>
        </p:txBody>
      </p:sp>
      <p:pic>
        <p:nvPicPr>
          <p:cNvPr id="22" name="Picture 21" descr="490+ Three Lane Highway Stock Photos and Royalty-Free Pictures - iStock">
            <a:extLst>
              <a:ext uri="{FF2B5EF4-FFF2-40B4-BE49-F238E27FC236}">
                <a16:creationId xmlns:a16="http://schemas.microsoft.com/office/drawing/2014/main" id="{D59517C7-6198-5A23-FD1C-122361321382}"/>
              </a:ext>
            </a:extLst>
          </p:cNvPr>
          <p:cNvPicPr>
            <a:picLocks noChangeAspect="1"/>
          </p:cNvPicPr>
          <p:nvPr/>
        </p:nvPicPr>
        <p:blipFill>
          <a:blip r:embed="rId6"/>
          <a:stretch>
            <a:fillRect/>
          </a:stretch>
        </p:blipFill>
        <p:spPr>
          <a:xfrm>
            <a:off x="8014657" y="1967954"/>
            <a:ext cx="3782190" cy="2540000"/>
          </a:xfrm>
          <a:prstGeom prst="rect">
            <a:avLst/>
          </a:prstGeom>
        </p:spPr>
      </p:pic>
      <p:sp>
        <p:nvSpPr>
          <p:cNvPr id="23" name="TextBox 22">
            <a:extLst>
              <a:ext uri="{FF2B5EF4-FFF2-40B4-BE49-F238E27FC236}">
                <a16:creationId xmlns:a16="http://schemas.microsoft.com/office/drawing/2014/main" id="{648C044E-453E-EEDD-01C2-C00D4E2A0DA9}"/>
              </a:ext>
            </a:extLst>
          </p:cNvPr>
          <p:cNvSpPr txBox="1"/>
          <p:nvPr/>
        </p:nvSpPr>
        <p:spPr>
          <a:xfrm>
            <a:off x="8675077" y="2285087"/>
            <a:ext cx="543739" cy="369332"/>
          </a:xfrm>
          <a:prstGeom prst="rect">
            <a:avLst/>
          </a:prstGeom>
          <a:noFill/>
        </p:spPr>
        <p:txBody>
          <a:bodyPr wrap="none" rtlCol="0">
            <a:spAutoFit/>
          </a:bodyPr>
          <a:lstStyle/>
          <a:p>
            <a:r>
              <a:rPr lang="en-US" dirty="0"/>
              <a:t>SQL</a:t>
            </a:r>
            <a:endParaRPr lang="en-IN" dirty="0"/>
          </a:p>
        </p:txBody>
      </p:sp>
      <p:sp>
        <p:nvSpPr>
          <p:cNvPr id="24" name="TextBox 23">
            <a:extLst>
              <a:ext uri="{FF2B5EF4-FFF2-40B4-BE49-F238E27FC236}">
                <a16:creationId xmlns:a16="http://schemas.microsoft.com/office/drawing/2014/main" id="{6454AA8A-059E-905D-B459-C5EE917ED89F}"/>
              </a:ext>
            </a:extLst>
          </p:cNvPr>
          <p:cNvSpPr txBox="1"/>
          <p:nvPr/>
        </p:nvSpPr>
        <p:spPr>
          <a:xfrm>
            <a:off x="10402951" y="2285087"/>
            <a:ext cx="1048172" cy="338554"/>
          </a:xfrm>
          <a:prstGeom prst="rect">
            <a:avLst/>
          </a:prstGeom>
          <a:noFill/>
        </p:spPr>
        <p:txBody>
          <a:bodyPr wrap="square" rtlCol="0">
            <a:spAutoFit/>
          </a:bodyPr>
          <a:lstStyle/>
          <a:p>
            <a:r>
              <a:rPr lang="en-US" sz="1600" dirty="0"/>
              <a:t>Semantic</a:t>
            </a:r>
            <a:endParaRPr lang="en-IN" sz="1600" dirty="0"/>
          </a:p>
        </p:txBody>
      </p:sp>
      <p:sp>
        <p:nvSpPr>
          <p:cNvPr id="25" name="TextBox 24">
            <a:extLst>
              <a:ext uri="{FF2B5EF4-FFF2-40B4-BE49-F238E27FC236}">
                <a16:creationId xmlns:a16="http://schemas.microsoft.com/office/drawing/2014/main" id="{2BC79E82-B4F6-DCDF-704A-6FB85559DE38}"/>
              </a:ext>
            </a:extLst>
          </p:cNvPr>
          <p:cNvSpPr txBox="1"/>
          <p:nvPr/>
        </p:nvSpPr>
        <p:spPr>
          <a:xfrm>
            <a:off x="9500833" y="2288108"/>
            <a:ext cx="809837" cy="369332"/>
          </a:xfrm>
          <a:prstGeom prst="rect">
            <a:avLst/>
          </a:prstGeom>
          <a:noFill/>
        </p:spPr>
        <p:txBody>
          <a:bodyPr wrap="none" rtlCol="0">
            <a:spAutoFit/>
          </a:bodyPr>
          <a:lstStyle/>
          <a:p>
            <a:r>
              <a:rPr lang="en-US" dirty="0"/>
              <a:t>Hybrid</a:t>
            </a:r>
            <a:endParaRPr lang="en-IN"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B5A133F4-328C-DC95-93EA-945E47F95664}"/>
              </a:ext>
            </a:extLst>
          </p:cNvPr>
          <p:cNvPicPr>
            <a:picLocks noChangeAspect="1"/>
          </p:cNvPicPr>
          <p:nvPr/>
        </p:nvPicPr>
        <p:blipFill>
          <a:blip r:embed="rId3"/>
          <a:stretch>
            <a:fillRect/>
          </a:stretch>
        </p:blipFill>
        <p:spPr>
          <a:xfrm>
            <a:off x="6345409" y="3822278"/>
            <a:ext cx="3127519" cy="1603387"/>
          </a:xfrm>
          <a:prstGeom prst="rect">
            <a:avLst/>
          </a:prstGeom>
        </p:spPr>
      </p:pic>
      <p:pic>
        <p:nvPicPr>
          <p:cNvPr id="25" name="Picture 24">
            <a:extLst>
              <a:ext uri="{FF2B5EF4-FFF2-40B4-BE49-F238E27FC236}">
                <a16:creationId xmlns:a16="http://schemas.microsoft.com/office/drawing/2014/main" id="{E3542BE0-CFA7-8A1C-627F-01D49426E2A3}"/>
              </a:ext>
            </a:extLst>
          </p:cNvPr>
          <p:cNvPicPr>
            <a:picLocks noChangeAspect="1"/>
          </p:cNvPicPr>
          <p:nvPr/>
        </p:nvPicPr>
        <p:blipFill>
          <a:blip r:embed="rId3"/>
          <a:stretch>
            <a:fillRect/>
          </a:stretch>
        </p:blipFill>
        <p:spPr>
          <a:xfrm>
            <a:off x="2489669" y="3822833"/>
            <a:ext cx="3127519" cy="1603387"/>
          </a:xfrm>
          <a:prstGeom prst="rect">
            <a:avLst/>
          </a:prstGeom>
        </p:spPr>
      </p:pic>
      <p:pic>
        <p:nvPicPr>
          <p:cNvPr id="23" name="Picture 22">
            <a:extLst>
              <a:ext uri="{FF2B5EF4-FFF2-40B4-BE49-F238E27FC236}">
                <a16:creationId xmlns:a16="http://schemas.microsoft.com/office/drawing/2014/main" id="{66F67038-B9D7-452C-E42A-6958BF9E4477}"/>
              </a:ext>
            </a:extLst>
          </p:cNvPr>
          <p:cNvPicPr>
            <a:picLocks noChangeAspect="1"/>
          </p:cNvPicPr>
          <p:nvPr/>
        </p:nvPicPr>
        <p:blipFill>
          <a:blip r:embed="rId3"/>
          <a:stretch>
            <a:fillRect/>
          </a:stretch>
        </p:blipFill>
        <p:spPr>
          <a:xfrm>
            <a:off x="8157602" y="1703754"/>
            <a:ext cx="3227664" cy="1603387"/>
          </a:xfrm>
          <a:prstGeom prst="rect">
            <a:avLst/>
          </a:prstGeom>
        </p:spPr>
      </p:pic>
      <p:pic>
        <p:nvPicPr>
          <p:cNvPr id="21" name="Picture 20">
            <a:extLst>
              <a:ext uri="{FF2B5EF4-FFF2-40B4-BE49-F238E27FC236}">
                <a16:creationId xmlns:a16="http://schemas.microsoft.com/office/drawing/2014/main" id="{3BE863D6-E41D-BA30-FE15-B93A64835339}"/>
              </a:ext>
            </a:extLst>
          </p:cNvPr>
          <p:cNvPicPr>
            <a:picLocks noChangeAspect="1"/>
          </p:cNvPicPr>
          <p:nvPr/>
        </p:nvPicPr>
        <p:blipFill>
          <a:blip r:embed="rId3"/>
          <a:stretch>
            <a:fillRect/>
          </a:stretch>
        </p:blipFill>
        <p:spPr>
          <a:xfrm>
            <a:off x="4394596" y="1685225"/>
            <a:ext cx="3127519" cy="1603387"/>
          </a:xfrm>
          <a:prstGeom prst="rect">
            <a:avLst/>
          </a:prstGeom>
        </p:spPr>
      </p:pic>
      <p:sp>
        <p:nvSpPr>
          <p:cNvPr id="19" name="Rectangle: Rounded Corners 18">
            <a:extLst>
              <a:ext uri="{FF2B5EF4-FFF2-40B4-BE49-F238E27FC236}">
                <a16:creationId xmlns:a16="http://schemas.microsoft.com/office/drawing/2014/main" id="{8FB88461-01BA-538A-FAE0-6FAB41A8BA66}"/>
              </a:ext>
            </a:extLst>
          </p:cNvPr>
          <p:cNvSpPr/>
          <p:nvPr/>
        </p:nvSpPr>
        <p:spPr>
          <a:xfrm>
            <a:off x="531446" y="1703754"/>
            <a:ext cx="3111224" cy="1587629"/>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 name="Text 0"/>
          <p:cNvSpPr/>
          <p:nvPr/>
        </p:nvSpPr>
        <p:spPr>
          <a:xfrm>
            <a:off x="661475" y="679847"/>
            <a:ext cx="10868745" cy="378023"/>
          </a:xfrm>
          <a:prstGeom prst="rect">
            <a:avLst/>
          </a:prstGeom>
          <a:noFill/>
          <a:ln/>
        </p:spPr>
        <p:txBody>
          <a:bodyPr wrap="none" lIns="0" tIns="0" rIns="0" bIns="0" rtlCol="0" anchor="t"/>
          <a:lstStyle/>
          <a:p>
            <a:pPr marL="0" indent="0" algn="l">
              <a:lnSpc>
                <a:spcPct val="104000"/>
              </a:lnSpc>
              <a:buNone/>
            </a:pPr>
            <a:r>
              <a:rPr lang="en-US" sz="2350" dirty="0">
                <a:solidFill>
                  <a:srgbClr val="1B1B27"/>
                </a:solidFill>
                <a:latin typeface="Corben" pitchFamily="34" charset="0"/>
                <a:ea typeface="Corben" pitchFamily="34" charset="-122"/>
                <a:cs typeface="Corben" pitchFamily="34" charset="-120"/>
              </a:rPr>
              <a:t>Tech Stack</a:t>
            </a:r>
            <a:endParaRPr lang="en-US" sz="235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5280" y="1839566"/>
            <a:ext cx="378014" cy="378023"/>
          </a:xfrm>
          <a:prstGeom prst="rect">
            <a:avLst/>
          </a:prstGeom>
        </p:spPr>
      </p:pic>
      <p:sp>
        <p:nvSpPr>
          <p:cNvPr id="5" name="Text 1"/>
          <p:cNvSpPr/>
          <p:nvPr/>
        </p:nvSpPr>
        <p:spPr>
          <a:xfrm>
            <a:off x="825280" y="2368799"/>
            <a:ext cx="3111224" cy="236240"/>
          </a:xfrm>
          <a:prstGeom prst="rect">
            <a:avLst/>
          </a:prstGeom>
          <a:noFill/>
          <a:ln/>
        </p:spPr>
        <p:txBody>
          <a:bodyPr wrap="none" lIns="0" tIns="0" rIns="0" bIns="0" rtlCol="0" anchor="t"/>
          <a:lstStyle/>
          <a:p>
            <a:pPr marL="0" indent="0" algn="l">
              <a:lnSpc>
                <a:spcPct val="104000"/>
              </a:lnSpc>
              <a:buNone/>
            </a:pPr>
            <a:r>
              <a:rPr lang="en-US" sz="1450" dirty="0">
                <a:latin typeface="Corben" pitchFamily="34" charset="0"/>
                <a:ea typeface="Corben" pitchFamily="34" charset="-122"/>
                <a:cs typeface="Corben" pitchFamily="34" charset="-120"/>
              </a:rPr>
              <a:t>Web framework</a:t>
            </a:r>
            <a:endParaRPr lang="en-US" sz="1450" dirty="0"/>
          </a:p>
        </p:txBody>
      </p:sp>
      <p:sp>
        <p:nvSpPr>
          <p:cNvPr id="6" name="Text 2"/>
          <p:cNvSpPr/>
          <p:nvPr/>
        </p:nvSpPr>
        <p:spPr>
          <a:xfrm>
            <a:off x="825280" y="2725986"/>
            <a:ext cx="3111224" cy="435372"/>
          </a:xfrm>
          <a:prstGeom prst="rect">
            <a:avLst/>
          </a:prstGeom>
          <a:noFill/>
          <a:ln/>
        </p:spPr>
        <p:txBody>
          <a:bodyPr wrap="square" lIns="0" tIns="0" rIns="0" bIns="0" rtlCol="0" anchor="t">
            <a:normAutofit/>
          </a:bodyPr>
          <a:lstStyle/>
          <a:p>
            <a:pPr marL="0" indent="0" algn="l">
              <a:lnSpc>
                <a:spcPct val="120000"/>
              </a:lnSpc>
              <a:buNone/>
            </a:pPr>
            <a:r>
              <a:rPr lang="en-US" sz="1150" dirty="0">
                <a:latin typeface="Nobile" pitchFamily="34" charset="0"/>
                <a:ea typeface="Nobile" pitchFamily="34" charset="-122"/>
                <a:cs typeface="Nobile" pitchFamily="34" charset="-120"/>
              </a:rPr>
              <a:t>Flask — small, unopinionated. Keeps complexity in the NLP pipeline.</a:t>
            </a:r>
            <a:endParaRPr lang="en-US" sz="115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27178" y="1845468"/>
            <a:ext cx="378014" cy="378023"/>
          </a:xfrm>
          <a:prstGeom prst="rect">
            <a:avLst/>
          </a:prstGeom>
        </p:spPr>
      </p:pic>
      <p:sp>
        <p:nvSpPr>
          <p:cNvPr id="8" name="Text 3"/>
          <p:cNvSpPr/>
          <p:nvPr/>
        </p:nvSpPr>
        <p:spPr>
          <a:xfrm>
            <a:off x="4527178" y="2374701"/>
            <a:ext cx="3111224" cy="236240"/>
          </a:xfrm>
          <a:prstGeom prst="rect">
            <a:avLst/>
          </a:prstGeom>
          <a:noFill/>
          <a:ln/>
        </p:spPr>
        <p:txBody>
          <a:bodyPr wrap="none" lIns="0" tIns="0" rIns="0" bIns="0" rtlCol="0" anchor="t"/>
          <a:lstStyle/>
          <a:p>
            <a:pPr marL="0" indent="0" algn="l">
              <a:lnSpc>
                <a:spcPct val="104000"/>
              </a:lnSpc>
              <a:buNone/>
            </a:pPr>
            <a:r>
              <a:rPr lang="en-US" sz="1450" dirty="0">
                <a:latin typeface="Corben" pitchFamily="34" charset="0"/>
                <a:ea typeface="Corben" pitchFamily="34" charset="-122"/>
                <a:cs typeface="Corben" pitchFamily="34" charset="-120"/>
              </a:rPr>
              <a:t>Database</a:t>
            </a:r>
            <a:endParaRPr lang="en-US" sz="1450" dirty="0"/>
          </a:p>
        </p:txBody>
      </p:sp>
      <p:sp>
        <p:nvSpPr>
          <p:cNvPr id="9" name="Text 4"/>
          <p:cNvSpPr/>
          <p:nvPr/>
        </p:nvSpPr>
        <p:spPr>
          <a:xfrm>
            <a:off x="4527178" y="2731888"/>
            <a:ext cx="3111224" cy="435372"/>
          </a:xfrm>
          <a:prstGeom prst="rect">
            <a:avLst/>
          </a:prstGeom>
          <a:noFill/>
          <a:ln/>
        </p:spPr>
        <p:txBody>
          <a:bodyPr wrap="square" lIns="0" tIns="0" rIns="0" bIns="0" rtlCol="0" anchor="t">
            <a:normAutofit/>
          </a:bodyPr>
          <a:lstStyle/>
          <a:p>
            <a:pPr marL="0" indent="0" algn="l">
              <a:lnSpc>
                <a:spcPct val="120000"/>
              </a:lnSpc>
              <a:buNone/>
            </a:pPr>
            <a:r>
              <a:rPr lang="en-US" sz="1150" dirty="0">
                <a:latin typeface="Nobile" pitchFamily="34" charset="0"/>
                <a:ea typeface="Nobile" pitchFamily="34" charset="-122"/>
                <a:cs typeface="Nobile" pitchFamily="34" charset="-120"/>
              </a:rPr>
              <a:t>Supabase (Postgres + pgvector) — avoids local Postgres build tools on Windows.</a:t>
            </a:r>
            <a:endParaRPr lang="en-US" sz="115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84357" y="1839566"/>
            <a:ext cx="378014" cy="378023"/>
          </a:xfrm>
          <a:prstGeom prst="rect">
            <a:avLst/>
          </a:prstGeom>
        </p:spPr>
      </p:pic>
      <p:sp>
        <p:nvSpPr>
          <p:cNvPr id="11" name="Text 5"/>
          <p:cNvSpPr/>
          <p:nvPr/>
        </p:nvSpPr>
        <p:spPr>
          <a:xfrm>
            <a:off x="8274042" y="2368799"/>
            <a:ext cx="3111224" cy="236240"/>
          </a:xfrm>
          <a:prstGeom prst="rect">
            <a:avLst/>
          </a:prstGeom>
          <a:noFill/>
          <a:ln/>
        </p:spPr>
        <p:txBody>
          <a:bodyPr wrap="none" lIns="0" tIns="0" rIns="0" bIns="0" rtlCol="0" anchor="t"/>
          <a:lstStyle/>
          <a:p>
            <a:pPr marL="0" indent="0" algn="l">
              <a:lnSpc>
                <a:spcPct val="104000"/>
              </a:lnSpc>
              <a:buNone/>
            </a:pPr>
            <a:r>
              <a:rPr lang="en-US" sz="1450" dirty="0">
                <a:latin typeface="Corben" pitchFamily="34" charset="0"/>
                <a:ea typeface="Corben" pitchFamily="34" charset="-122"/>
                <a:cs typeface="Corben" pitchFamily="34" charset="-120"/>
              </a:rPr>
              <a:t>DB driver</a:t>
            </a:r>
            <a:endParaRPr lang="en-US" sz="1450" dirty="0"/>
          </a:p>
        </p:txBody>
      </p:sp>
      <p:sp>
        <p:nvSpPr>
          <p:cNvPr id="12" name="Text 6"/>
          <p:cNvSpPr/>
          <p:nvPr/>
        </p:nvSpPr>
        <p:spPr>
          <a:xfrm>
            <a:off x="8274042" y="2725987"/>
            <a:ext cx="3111224" cy="653058"/>
          </a:xfrm>
          <a:prstGeom prst="rect">
            <a:avLst/>
          </a:prstGeom>
          <a:noFill/>
          <a:ln/>
        </p:spPr>
        <p:txBody>
          <a:bodyPr wrap="square" lIns="0" tIns="0" rIns="0" bIns="0" rtlCol="0" anchor="t">
            <a:normAutofit/>
          </a:bodyPr>
          <a:lstStyle/>
          <a:p>
            <a:pPr marL="0" indent="0" algn="l">
              <a:lnSpc>
                <a:spcPct val="120000"/>
              </a:lnSpc>
              <a:buNone/>
            </a:pPr>
            <a:r>
              <a:rPr lang="en-US" sz="1150" dirty="0">
                <a:latin typeface="Nobile" pitchFamily="34" charset="0"/>
                <a:ea typeface="Nobile" pitchFamily="34" charset="-122"/>
                <a:cs typeface="Nobile" pitchFamily="34" charset="-120"/>
              </a:rPr>
              <a:t>pg8000 — pure Python, avoids psycopg2 binary build issues on Python 3.13/Windows.</a:t>
            </a:r>
            <a:endParaRPr lang="en-US" sz="115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43462" y="3944085"/>
            <a:ext cx="378014" cy="378023"/>
          </a:xfrm>
          <a:prstGeom prst="rect">
            <a:avLst/>
          </a:prstGeom>
        </p:spPr>
      </p:pic>
      <p:sp>
        <p:nvSpPr>
          <p:cNvPr id="14" name="Text 7"/>
          <p:cNvSpPr/>
          <p:nvPr/>
        </p:nvSpPr>
        <p:spPr>
          <a:xfrm>
            <a:off x="3118601" y="4457004"/>
            <a:ext cx="3111224" cy="236240"/>
          </a:xfrm>
          <a:prstGeom prst="rect">
            <a:avLst/>
          </a:prstGeom>
          <a:noFill/>
          <a:ln/>
        </p:spPr>
        <p:txBody>
          <a:bodyPr wrap="none" lIns="0" tIns="0" rIns="0" bIns="0" rtlCol="0" anchor="t"/>
          <a:lstStyle/>
          <a:p>
            <a:pPr marL="0" indent="0" algn="l">
              <a:lnSpc>
                <a:spcPct val="104000"/>
              </a:lnSpc>
              <a:buNone/>
            </a:pPr>
            <a:r>
              <a:rPr lang="en-US" sz="1450" dirty="0">
                <a:latin typeface="Corben" pitchFamily="34" charset="0"/>
                <a:ea typeface="Corben" pitchFamily="34" charset="-122"/>
                <a:cs typeface="Corben" pitchFamily="34" charset="-120"/>
              </a:rPr>
              <a:t>LLMs</a:t>
            </a:r>
            <a:endParaRPr lang="en-US" sz="1450" dirty="0"/>
          </a:p>
        </p:txBody>
      </p:sp>
      <p:sp>
        <p:nvSpPr>
          <p:cNvPr id="15" name="Text 8"/>
          <p:cNvSpPr/>
          <p:nvPr/>
        </p:nvSpPr>
        <p:spPr>
          <a:xfrm>
            <a:off x="3118601" y="4814192"/>
            <a:ext cx="3111224" cy="435372"/>
          </a:xfrm>
          <a:prstGeom prst="rect">
            <a:avLst/>
          </a:prstGeom>
          <a:noFill/>
          <a:ln/>
        </p:spPr>
        <p:txBody>
          <a:bodyPr wrap="square" lIns="0" tIns="0" rIns="0" bIns="0" rtlCol="0" anchor="t">
            <a:normAutofit/>
          </a:bodyPr>
          <a:lstStyle/>
          <a:p>
            <a:pPr marL="0" indent="0" algn="l">
              <a:lnSpc>
                <a:spcPct val="120000"/>
              </a:lnSpc>
              <a:buNone/>
            </a:pPr>
            <a:r>
              <a:rPr lang="en-US" sz="1150" dirty="0">
                <a:latin typeface="Nobile" pitchFamily="34" charset="0"/>
                <a:ea typeface="Nobile" pitchFamily="34" charset="-122"/>
                <a:cs typeface="Nobile" pitchFamily="34" charset="-120"/>
              </a:rPr>
              <a:t>qwen2.5-coder:3b for SQL generation; llama3.2:3b for routing/decomposition.</a:t>
            </a:r>
            <a:endParaRPr lang="en-US" sz="1150" dirty="0"/>
          </a:p>
        </p:txBody>
      </p:sp>
      <p:pic>
        <p:nvPicPr>
          <p:cNvPr id="1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83618" y="3927772"/>
            <a:ext cx="378014" cy="378023"/>
          </a:xfrm>
          <a:prstGeom prst="rect">
            <a:avLst/>
          </a:prstGeom>
        </p:spPr>
      </p:pic>
      <p:sp>
        <p:nvSpPr>
          <p:cNvPr id="17" name="Text 9"/>
          <p:cNvSpPr/>
          <p:nvPr/>
        </p:nvSpPr>
        <p:spPr>
          <a:xfrm>
            <a:off x="6483618" y="4457005"/>
            <a:ext cx="3111224" cy="236240"/>
          </a:xfrm>
          <a:prstGeom prst="rect">
            <a:avLst/>
          </a:prstGeom>
          <a:noFill/>
          <a:ln/>
        </p:spPr>
        <p:txBody>
          <a:bodyPr wrap="none" lIns="0" tIns="0" rIns="0" bIns="0" rtlCol="0" anchor="t"/>
          <a:lstStyle/>
          <a:p>
            <a:pPr marL="0" indent="0" algn="l">
              <a:lnSpc>
                <a:spcPct val="104000"/>
              </a:lnSpc>
              <a:buNone/>
            </a:pPr>
            <a:r>
              <a:rPr lang="en-US" sz="1450" dirty="0">
                <a:latin typeface="Corben" pitchFamily="34" charset="0"/>
                <a:ea typeface="Corben" pitchFamily="34" charset="-122"/>
                <a:cs typeface="Corben" pitchFamily="34" charset="-120"/>
              </a:rPr>
              <a:t>Embeddings</a:t>
            </a:r>
            <a:endParaRPr lang="en-US" sz="1450" dirty="0"/>
          </a:p>
        </p:txBody>
      </p:sp>
      <p:sp>
        <p:nvSpPr>
          <p:cNvPr id="18" name="Text 10"/>
          <p:cNvSpPr/>
          <p:nvPr/>
        </p:nvSpPr>
        <p:spPr>
          <a:xfrm>
            <a:off x="6483618" y="4814192"/>
            <a:ext cx="3111224" cy="435372"/>
          </a:xfrm>
          <a:prstGeom prst="rect">
            <a:avLst/>
          </a:prstGeom>
          <a:noFill/>
          <a:ln/>
        </p:spPr>
        <p:txBody>
          <a:bodyPr wrap="square" lIns="0" tIns="0" rIns="0" bIns="0" rtlCol="0" anchor="t">
            <a:normAutofit/>
          </a:bodyPr>
          <a:lstStyle/>
          <a:p>
            <a:pPr marL="0" indent="0" algn="l">
              <a:lnSpc>
                <a:spcPct val="120000"/>
              </a:lnSpc>
              <a:buNone/>
            </a:pPr>
            <a:r>
              <a:rPr lang="en-US" sz="1150" dirty="0">
                <a:latin typeface="Nobile" pitchFamily="34" charset="0"/>
                <a:ea typeface="Nobile" pitchFamily="34" charset="-122"/>
                <a:cs typeface="Nobile" pitchFamily="34" charset="-120"/>
              </a:rPr>
              <a:t>all-MiniLM-L6-v2 — 384-dim, CPU-friendly for short review text.</a:t>
            </a:r>
            <a:endParaRPr lang="en-US" sz="1150"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68127"/>
            <a:ext cx="10868745" cy="351433"/>
          </a:xfrm>
          <a:prstGeom prst="rect">
            <a:avLst/>
          </a:prstGeom>
          <a:noFill/>
          <a:ln/>
        </p:spPr>
        <p:txBody>
          <a:bodyPr wrap="none" lIns="0" tIns="0" rIns="0" bIns="0" rtlCol="0" anchor="t"/>
          <a:lstStyle/>
          <a:p>
            <a:pPr marL="0" indent="0" algn="ctr">
              <a:lnSpc>
                <a:spcPct val="104000"/>
              </a:lnSpc>
              <a:buNone/>
            </a:pPr>
            <a:r>
              <a:rPr lang="en-US" sz="2200" dirty="0">
                <a:solidFill>
                  <a:srgbClr val="1B1B27"/>
                </a:solidFill>
                <a:latin typeface="Corben" pitchFamily="34" charset="0"/>
                <a:ea typeface="Corben" pitchFamily="34" charset="-122"/>
                <a:cs typeface="Corben" pitchFamily="34" charset="-120"/>
              </a:rPr>
              <a:t>System Architecture</a:t>
            </a:r>
            <a:endParaRPr lang="en-US" sz="2200" dirty="0"/>
          </a:p>
        </p:txBody>
      </p:sp>
      <p:sp>
        <p:nvSpPr>
          <p:cNvPr id="3" name="Shape 1"/>
          <p:cNvSpPr/>
          <p:nvPr/>
        </p:nvSpPr>
        <p:spPr>
          <a:xfrm>
            <a:off x="661475" y="1163737"/>
            <a:ext cx="10868745" cy="19050"/>
          </a:xfrm>
          <a:prstGeom prst="roundRect">
            <a:avLst>
              <a:gd name="adj" fmla="val 49999"/>
            </a:avLst>
          </a:prstGeom>
          <a:solidFill>
            <a:srgbClr val="404155">
              <a:alpha val="50000"/>
            </a:srgbClr>
          </a:solidFill>
          <a:ln/>
        </p:spPr>
      </p:sp>
      <p:sp>
        <p:nvSpPr>
          <p:cNvPr id="5" name="Text 2"/>
          <p:cNvSpPr/>
          <p:nvPr/>
        </p:nvSpPr>
        <p:spPr>
          <a:xfrm>
            <a:off x="2131230" y="4537299"/>
            <a:ext cx="2078615" cy="259833"/>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Corben" pitchFamily="34" charset="0"/>
                <a:ea typeface="Corben" pitchFamily="34" charset="-122"/>
                <a:cs typeface="Corben" pitchFamily="34" charset="-120"/>
              </a:rPr>
              <a:t>Combine &amp; Return</a:t>
            </a:r>
            <a:endParaRPr lang="en-US" sz="1600" dirty="0"/>
          </a:p>
        </p:txBody>
      </p:sp>
      <p:sp>
        <p:nvSpPr>
          <p:cNvPr id="6" name="Text 3"/>
          <p:cNvSpPr/>
          <p:nvPr/>
        </p:nvSpPr>
        <p:spPr>
          <a:xfrm>
            <a:off x="2131230" y="3622686"/>
            <a:ext cx="2078615" cy="259833"/>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Corben" pitchFamily="34" charset="0"/>
                <a:ea typeface="Corben" pitchFamily="34" charset="-122"/>
                <a:cs typeface="Corben" pitchFamily="34" charset="-120"/>
              </a:rPr>
              <a:t>Parallel Paths</a:t>
            </a:r>
            <a:endParaRPr lang="en-US" sz="1600" dirty="0"/>
          </a:p>
        </p:txBody>
      </p:sp>
      <p:sp>
        <p:nvSpPr>
          <p:cNvPr id="7" name="Text 4"/>
          <p:cNvSpPr/>
          <p:nvPr/>
        </p:nvSpPr>
        <p:spPr>
          <a:xfrm>
            <a:off x="2131230" y="2717311"/>
            <a:ext cx="2078615" cy="259833"/>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Corben" pitchFamily="34" charset="0"/>
                <a:ea typeface="Corben" pitchFamily="34" charset="-122"/>
                <a:cs typeface="Corben" pitchFamily="34" charset="-120"/>
              </a:rPr>
              <a:t>Flask Router</a:t>
            </a:r>
            <a:endParaRPr lang="en-US" sz="1600" dirty="0"/>
          </a:p>
        </p:txBody>
      </p:sp>
      <p:sp>
        <p:nvSpPr>
          <p:cNvPr id="8" name="Text 5"/>
          <p:cNvSpPr/>
          <p:nvPr/>
        </p:nvSpPr>
        <p:spPr>
          <a:xfrm>
            <a:off x="2131230" y="1802698"/>
            <a:ext cx="2078615" cy="259833"/>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Corben" pitchFamily="34" charset="0"/>
                <a:ea typeface="Corben" pitchFamily="34" charset="-122"/>
                <a:cs typeface="Corben" pitchFamily="34" charset="-120"/>
              </a:rPr>
              <a:t>Browser UI</a:t>
            </a:r>
            <a:endParaRPr lang="en-US" sz="1600" dirty="0"/>
          </a:p>
        </p:txBody>
      </p:sp>
      <p:sp>
        <p:nvSpPr>
          <p:cNvPr id="9" name="Text 6"/>
          <p:cNvSpPr/>
          <p:nvPr/>
        </p:nvSpPr>
        <p:spPr>
          <a:xfrm>
            <a:off x="661475" y="5498207"/>
            <a:ext cx="4814370" cy="588169"/>
          </a:xfrm>
          <a:prstGeom prst="rect">
            <a:avLst/>
          </a:prstGeom>
          <a:noFill/>
          <a:ln/>
        </p:spPr>
        <p:txBody>
          <a:bodyPr wrap="square" lIns="0" tIns="0" rIns="0" bIns="0" rtlCol="0" anchor="t">
            <a:normAutofit/>
          </a:bodyPr>
          <a:lstStyle/>
          <a:p>
            <a:pPr marL="0" indent="0" algn="l">
              <a:lnSpc>
                <a:spcPct val="116000"/>
              </a:lnSpc>
              <a:buNone/>
            </a:pPr>
            <a:r>
              <a:rPr lang="en-US" sz="1100" dirty="0">
                <a:solidFill>
                  <a:srgbClr val="404155"/>
                </a:solidFill>
                <a:latin typeface="Nobile" pitchFamily="34" charset="0"/>
                <a:ea typeface="Nobile" pitchFamily="34" charset="-122"/>
                <a:cs typeface="Nobile" pitchFamily="34" charset="-120"/>
              </a:rPr>
              <a:t>It runs on one Flask process, one Postgres/Supabase instance, and two local models. Every LLM call goes through an Ollama wrapper, with temperature set to 0 whenever we need deterministic output.</a:t>
            </a:r>
            <a:endParaRPr lang="en-US" sz="1100" dirty="0"/>
          </a:p>
        </p:txBody>
      </p:sp>
      <p:sp>
        <p:nvSpPr>
          <p:cNvPr id="10" name="Shape 7"/>
          <p:cNvSpPr/>
          <p:nvPr/>
        </p:nvSpPr>
        <p:spPr>
          <a:xfrm>
            <a:off x="5825086" y="5521722"/>
            <a:ext cx="5711384" cy="650478"/>
          </a:xfrm>
          <a:prstGeom prst="roundRect">
            <a:avLst>
              <a:gd name="adj" fmla="val 9077"/>
            </a:avLst>
          </a:prstGeom>
          <a:solidFill>
            <a:srgbClr val="D2D9F9"/>
          </a:solidFill>
          <a:ln/>
        </p:spPr>
      </p:sp>
      <p:pic>
        <p:nvPicPr>
          <p:cNvPr id="11" name="Image 1" descr="preencoded.png"/>
          <p:cNvPicPr>
            <a:picLocks noChangeAspect="1"/>
          </p:cNvPicPr>
          <p:nvPr/>
        </p:nvPicPr>
        <p:blipFill>
          <a:blip r:embed="rId3"/>
          <a:stretch>
            <a:fillRect/>
          </a:stretch>
        </p:blipFill>
        <p:spPr>
          <a:xfrm>
            <a:off x="5965577" y="5671741"/>
            <a:ext cx="175712" cy="140494"/>
          </a:xfrm>
          <a:prstGeom prst="rect">
            <a:avLst/>
          </a:prstGeom>
        </p:spPr>
      </p:pic>
      <p:sp>
        <p:nvSpPr>
          <p:cNvPr id="12" name="Text 8"/>
          <p:cNvSpPr/>
          <p:nvPr/>
        </p:nvSpPr>
        <p:spPr>
          <a:xfrm>
            <a:off x="6281779" y="5650905"/>
            <a:ext cx="5114202" cy="392113"/>
          </a:xfrm>
          <a:prstGeom prst="rect">
            <a:avLst/>
          </a:prstGeom>
          <a:noFill/>
          <a:ln/>
        </p:spPr>
        <p:txBody>
          <a:bodyPr wrap="square" lIns="0" tIns="0" rIns="0" bIns="0" rtlCol="0" anchor="t">
            <a:normAutofit/>
          </a:bodyPr>
          <a:lstStyle/>
          <a:p>
            <a:pPr marL="0" indent="0" algn="l">
              <a:lnSpc>
                <a:spcPct val="116000"/>
              </a:lnSpc>
              <a:buNone/>
            </a:pPr>
            <a:r>
              <a:rPr lang="en-US" sz="1100" dirty="0">
                <a:solidFill>
                  <a:srgbClr val="000000"/>
                </a:solidFill>
                <a:latin typeface="Nobile" pitchFamily="34" charset="0"/>
                <a:ea typeface="Nobile" pitchFamily="34" charset="-122"/>
                <a:cs typeface="Nobile" pitchFamily="34" charset="-120"/>
              </a:rPr>
              <a:t>Nothing leaves the laptop, local models, local embeddings, and a self-contained Postgres instance; no external inference APIs in the request path.</a:t>
            </a:r>
            <a:endParaRPr lang="en-US" sz="1100" dirty="0"/>
          </a:p>
        </p:txBody>
      </p:sp>
      <p:pic>
        <p:nvPicPr>
          <p:cNvPr id="14" name="Picture 13">
            <a:extLst>
              <a:ext uri="{FF2B5EF4-FFF2-40B4-BE49-F238E27FC236}">
                <a16:creationId xmlns:a16="http://schemas.microsoft.com/office/drawing/2014/main" id="{764FAF95-B80C-6DDF-2DA7-6957E1D60747}"/>
              </a:ext>
            </a:extLst>
          </p:cNvPr>
          <p:cNvPicPr>
            <a:picLocks noChangeAspect="1"/>
          </p:cNvPicPr>
          <p:nvPr/>
        </p:nvPicPr>
        <p:blipFill>
          <a:blip r:embed="rId4"/>
          <a:stretch>
            <a:fillRect/>
          </a:stretch>
        </p:blipFill>
        <p:spPr>
          <a:xfrm>
            <a:off x="3141146" y="1257397"/>
            <a:ext cx="5648861" cy="39043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767655"/>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B1B27"/>
                </a:solidFill>
                <a:latin typeface="Corben" pitchFamily="34" charset="0"/>
                <a:ea typeface="Corben" pitchFamily="34" charset="-122"/>
                <a:cs typeface="Corben" pitchFamily="34" charset="-120"/>
              </a:rPr>
              <a:t>How each lane actually works</a:t>
            </a:r>
            <a:endParaRPr lang="en-US" sz="2950" dirty="0"/>
          </a:p>
        </p:txBody>
      </p:sp>
      <p:sp>
        <p:nvSpPr>
          <p:cNvPr id="3" name="Text 1"/>
          <p:cNvSpPr/>
          <p:nvPr/>
        </p:nvSpPr>
        <p:spPr>
          <a:xfrm>
            <a:off x="661475" y="1618159"/>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404155"/>
                </a:solidFill>
                <a:latin typeface="Nobile" pitchFamily="34" charset="0"/>
                <a:ea typeface="Nobile" pitchFamily="34" charset="-122"/>
                <a:cs typeface="Nobile" pitchFamily="34" charset="-120"/>
              </a:rPr>
              <a:t>Question in → route → validated output. Three coordinated mechanisms share a common safety layer and registry.   </a:t>
            </a:r>
            <a:endParaRPr lang="en-US" sz="1450" dirty="0"/>
          </a:p>
        </p:txBody>
      </p:sp>
      <p:sp>
        <p:nvSpPr>
          <p:cNvPr id="4" name="Text 2"/>
          <p:cNvSpPr/>
          <p:nvPr/>
        </p:nvSpPr>
        <p:spPr>
          <a:xfrm>
            <a:off x="661475" y="2322215"/>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Corben" pitchFamily="34" charset="0"/>
                <a:ea typeface="Corben" pitchFamily="34" charset="-122"/>
                <a:cs typeface="Corben" pitchFamily="34" charset="-120"/>
              </a:rPr>
              <a:t>Text-to-SQL</a:t>
            </a:r>
            <a:endParaRPr lang="en-US" sz="1850" dirty="0"/>
          </a:p>
        </p:txBody>
      </p:sp>
      <p:sp>
        <p:nvSpPr>
          <p:cNvPr id="5" name="Text 3"/>
          <p:cNvSpPr/>
          <p:nvPr/>
        </p:nvSpPr>
        <p:spPr>
          <a:xfrm>
            <a:off x="661475" y="2806502"/>
            <a:ext cx="5203794" cy="1946672"/>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Prompt includes schema, sample rows, and cached profiling notes.</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qwen2.5-coder:3b generates SELECT-only statements; forbidden keywords are rejected.</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Auto-LIMIT 500; one retry loop sends error back into the model for correction.</a:t>
            </a:r>
            <a:endParaRPr lang="en-US" sz="1450" dirty="0"/>
          </a:p>
        </p:txBody>
      </p:sp>
      <p:sp>
        <p:nvSpPr>
          <p:cNvPr id="6" name="Text 4"/>
          <p:cNvSpPr/>
          <p:nvPr/>
        </p:nvSpPr>
        <p:spPr>
          <a:xfrm>
            <a:off x="6332776" y="2322215"/>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Corben" pitchFamily="34" charset="0"/>
                <a:ea typeface="Corben" pitchFamily="34" charset="-122"/>
                <a:cs typeface="Corben" pitchFamily="34" charset="-120"/>
              </a:rPr>
              <a:t>Query router &amp; Semantic search</a:t>
            </a:r>
            <a:endParaRPr lang="en-US" sz="1850" dirty="0"/>
          </a:p>
        </p:txBody>
      </p:sp>
      <p:sp>
        <p:nvSpPr>
          <p:cNvPr id="7" name="Text 5"/>
          <p:cNvSpPr/>
          <p:nvPr/>
        </p:nvSpPr>
        <p:spPr>
          <a:xfrm>
            <a:off x="6332776" y="2806502"/>
            <a:ext cx="5203794" cy="1644253"/>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Heuristic regex first; llama3.2:3b fallback for ambiguous cases.</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If dataset lacks a text column, force the SQL lane.</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Embeddings cached on load; pgvector cosine search with 0.8 cutoff to drop weak matches.</a:t>
            </a:r>
            <a:endParaRPr lang="en-US" sz="1450" dirty="0"/>
          </a:p>
        </p:txBody>
      </p:sp>
      <p:sp>
        <p:nvSpPr>
          <p:cNvPr id="8" name="Shape 6"/>
          <p:cNvSpPr/>
          <p:nvPr/>
        </p:nvSpPr>
        <p:spPr>
          <a:xfrm>
            <a:off x="661475" y="5031879"/>
            <a:ext cx="10868745" cy="1058366"/>
          </a:xfrm>
          <a:prstGeom prst="roundRect">
            <a:avLst>
              <a:gd name="adj" fmla="val 7501"/>
            </a:avLst>
          </a:prstGeom>
          <a:solidFill>
            <a:srgbClr val="D2D9F9"/>
          </a:solidFill>
          <a:ln/>
        </p:spPr>
      </p:sp>
      <p:pic>
        <p:nvPicPr>
          <p:cNvPr id="9" name="Image 0" descr="preencoded.png"/>
          <p:cNvPicPr>
            <a:picLocks noChangeAspect="1"/>
          </p:cNvPicPr>
          <p:nvPr/>
        </p:nvPicPr>
        <p:blipFill>
          <a:blip r:embed="rId3"/>
          <a:stretch>
            <a:fillRect/>
          </a:stretch>
        </p:blipFill>
        <p:spPr>
          <a:xfrm>
            <a:off x="850482" y="5299571"/>
            <a:ext cx="236234" cy="189012"/>
          </a:xfrm>
          <a:prstGeom prst="rect">
            <a:avLst/>
          </a:prstGeom>
        </p:spPr>
      </p:pic>
      <p:sp>
        <p:nvSpPr>
          <p:cNvPr id="10" name="Text 7"/>
          <p:cNvSpPr/>
          <p:nvPr/>
        </p:nvSpPr>
        <p:spPr>
          <a:xfrm>
            <a:off x="1275723" y="5268119"/>
            <a:ext cx="10065490"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Nobile" pitchFamily="34" charset="0"/>
                <a:ea typeface="Nobile" pitchFamily="34" charset="-122"/>
                <a:cs typeface="Nobile" pitchFamily="34" charset="-120"/>
              </a:rPr>
              <a:t>Hybrid mode: decomposition produces a SQL filter (validated) to get candidate IDs, then semantic re-ranking runs only on that subset for precision and efficiency.</a:t>
            </a:r>
            <a:endParaRPr lang="en-US" sz="1450"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85E878-C902-F3B7-BB0E-87AE72556D75}"/>
              </a:ext>
            </a:extLst>
          </p:cNvPr>
          <p:cNvSpPr txBox="1"/>
          <p:nvPr/>
        </p:nvSpPr>
        <p:spPr>
          <a:xfrm>
            <a:off x="242274" y="385097"/>
            <a:ext cx="9456617" cy="558423"/>
          </a:xfrm>
          <a:prstGeom prst="rect">
            <a:avLst/>
          </a:prstGeom>
          <a:noFill/>
        </p:spPr>
        <p:txBody>
          <a:bodyPr wrap="square">
            <a:spAutoFit/>
          </a:bodyPr>
          <a:lstStyle/>
          <a:p>
            <a:pPr marL="0" indent="0" algn="l">
              <a:lnSpc>
                <a:spcPct val="104000"/>
              </a:lnSpc>
              <a:buNone/>
            </a:pPr>
            <a:r>
              <a:rPr lang="en-US" sz="2950" dirty="0">
                <a:solidFill>
                  <a:srgbClr val="1B1B27"/>
                </a:solidFill>
                <a:latin typeface="Corben" pitchFamily="34" charset="0"/>
                <a:ea typeface="Corben" pitchFamily="34" charset="-122"/>
                <a:cs typeface="Corben" pitchFamily="34" charset="-120"/>
              </a:rPr>
              <a:t>How DM Your Data worked on a Numerical Dataset:</a:t>
            </a:r>
            <a:endParaRPr lang="en-US" sz="2950" dirty="0"/>
          </a:p>
        </p:txBody>
      </p:sp>
      <p:pic>
        <p:nvPicPr>
          <p:cNvPr id="4" name="DM Your Data - Numerical Output">
            <a:hlinkClick r:id="" action="ppaction://media"/>
            <a:extLst>
              <a:ext uri="{FF2B5EF4-FFF2-40B4-BE49-F238E27FC236}">
                <a16:creationId xmlns:a16="http://schemas.microsoft.com/office/drawing/2014/main" id="{CC2D5952-78DE-59EF-21C3-99FFACB7848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445846" y="1060938"/>
            <a:ext cx="9300308" cy="5231423"/>
          </a:xfrm>
          <a:prstGeom prst="rect">
            <a:avLst/>
          </a:prstGeom>
        </p:spPr>
      </p:pic>
    </p:spTree>
    <p:extLst>
      <p:ext uri="{BB962C8B-B14F-4D97-AF65-F5344CB8AC3E}">
        <p14:creationId xmlns:p14="http://schemas.microsoft.com/office/powerpoint/2010/main" val="33213099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590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0755B-531C-D826-ABFB-2E4CAD44998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33A2AA-6FF2-86D8-BE1C-7628A2D0DBDA}"/>
              </a:ext>
            </a:extLst>
          </p:cNvPr>
          <p:cNvSpPr txBox="1"/>
          <p:nvPr/>
        </p:nvSpPr>
        <p:spPr>
          <a:xfrm>
            <a:off x="242275" y="385097"/>
            <a:ext cx="9534771" cy="558423"/>
          </a:xfrm>
          <a:prstGeom prst="rect">
            <a:avLst/>
          </a:prstGeom>
          <a:noFill/>
        </p:spPr>
        <p:txBody>
          <a:bodyPr wrap="square">
            <a:spAutoFit/>
          </a:bodyPr>
          <a:lstStyle/>
          <a:p>
            <a:pPr marL="0" indent="0" algn="l">
              <a:lnSpc>
                <a:spcPct val="104000"/>
              </a:lnSpc>
              <a:buNone/>
            </a:pPr>
            <a:r>
              <a:rPr lang="en-US" sz="2950" dirty="0">
                <a:solidFill>
                  <a:srgbClr val="1B1B27"/>
                </a:solidFill>
                <a:latin typeface="Corben" pitchFamily="34" charset="0"/>
                <a:ea typeface="Corben" pitchFamily="34" charset="-122"/>
                <a:cs typeface="Corben" pitchFamily="34" charset="-120"/>
              </a:rPr>
              <a:t>How DM Your Data worked on a Textual Dataset:</a:t>
            </a:r>
            <a:endParaRPr lang="en-US" sz="2950" dirty="0"/>
          </a:p>
        </p:txBody>
      </p:sp>
      <p:pic>
        <p:nvPicPr>
          <p:cNvPr id="2" name="DM Your Data - Textual Output">
            <a:hlinkClick r:id="" action="ppaction://media"/>
            <a:extLst>
              <a:ext uri="{FF2B5EF4-FFF2-40B4-BE49-F238E27FC236}">
                <a16:creationId xmlns:a16="http://schemas.microsoft.com/office/drawing/2014/main" id="{CFF8FD2C-1F08-246B-4512-9DC333AD9A5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434123" y="1100015"/>
            <a:ext cx="9323754" cy="5244612"/>
          </a:xfrm>
          <a:prstGeom prst="rect">
            <a:avLst/>
          </a:prstGeom>
        </p:spPr>
      </p:pic>
    </p:spTree>
    <p:extLst>
      <p:ext uri="{BB962C8B-B14F-4D97-AF65-F5344CB8AC3E}">
        <p14:creationId xmlns:p14="http://schemas.microsoft.com/office/powerpoint/2010/main" val="36613363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766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921246"/>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B1B27"/>
                </a:solidFill>
                <a:latin typeface="Corben" pitchFamily="34" charset="0"/>
                <a:ea typeface="Corben" pitchFamily="34" charset="-122"/>
                <a:cs typeface="Corben" pitchFamily="34" charset="-120"/>
              </a:rPr>
              <a:t>Supporting systems: profiling and CSV upload</a:t>
            </a:r>
            <a:endParaRPr lang="en-US" sz="2950" dirty="0"/>
          </a:p>
        </p:txBody>
      </p:sp>
      <p:sp>
        <p:nvSpPr>
          <p:cNvPr id="3" name="Text 1"/>
          <p:cNvSpPr/>
          <p:nvPr/>
        </p:nvSpPr>
        <p:spPr>
          <a:xfrm>
            <a:off x="661475" y="1866205"/>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Corben" pitchFamily="34" charset="0"/>
                <a:ea typeface="Corben" pitchFamily="34" charset="-122"/>
                <a:cs typeface="Corben" pitchFamily="34" charset="-120"/>
              </a:rPr>
              <a:t>Profiling &amp; outlier detection</a:t>
            </a:r>
            <a:endParaRPr lang="en-US" sz="1850" dirty="0"/>
          </a:p>
        </p:txBody>
      </p:sp>
      <p:sp>
        <p:nvSpPr>
          <p:cNvPr id="4" name="Text 2"/>
          <p:cNvSpPr/>
          <p:nvPr/>
        </p:nvSpPr>
        <p:spPr>
          <a:xfrm>
            <a:off x="661475" y="2350492"/>
            <a:ext cx="5203794" cy="2249091"/>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Per-column stats (nulls, cardinality, min/max/mean/stddev) cached in profile_report.json.</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Stats fold directly into SQL prompts (e.g., "region: 4 distinct values") to steer exact-match filters.</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Outliers detected by z-score (&gt;3σ) and IQR (Tukey's fence), computed in SQL for scale.</a:t>
            </a:r>
            <a:endParaRPr lang="en-US" sz="1450" dirty="0"/>
          </a:p>
        </p:txBody>
      </p:sp>
      <p:sp>
        <p:nvSpPr>
          <p:cNvPr id="5" name="Text 3"/>
          <p:cNvSpPr/>
          <p:nvPr/>
        </p:nvSpPr>
        <p:spPr>
          <a:xfrm>
            <a:off x="6332776" y="1866205"/>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Corben" pitchFamily="34" charset="0"/>
                <a:ea typeface="Corben" pitchFamily="34" charset="-122"/>
                <a:cs typeface="Corben" pitchFamily="34" charset="-120"/>
              </a:rPr>
              <a:t>CSV upload pipeline</a:t>
            </a:r>
            <a:endParaRPr lang="en-US" sz="1850" dirty="0"/>
          </a:p>
        </p:txBody>
      </p:sp>
      <p:sp>
        <p:nvSpPr>
          <p:cNvPr id="6" name="Text 4"/>
          <p:cNvSpPr/>
          <p:nvPr/>
        </p:nvSpPr>
        <p:spPr>
          <a:xfrm>
            <a:off x="6332776" y="2350492"/>
            <a:ext cx="5203794" cy="2249091"/>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Parse and validate (caps: 5MB / 5,000 rows), sanitize and infer types, then replace active dataset.</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Text column auto-detected when average string length &gt; 25 characters.</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First 1,000 rows are embedded; a central registry exposes table/column names to all downstream modules.</a:t>
            </a:r>
            <a:endParaRPr lang="en-US" sz="1450" dirty="0"/>
          </a:p>
        </p:txBody>
      </p:sp>
      <p:sp>
        <p:nvSpPr>
          <p:cNvPr id="7" name="Shape 5"/>
          <p:cNvSpPr/>
          <p:nvPr/>
        </p:nvSpPr>
        <p:spPr>
          <a:xfrm>
            <a:off x="661475" y="4878288"/>
            <a:ext cx="10868745" cy="1058366"/>
          </a:xfrm>
          <a:prstGeom prst="roundRect">
            <a:avLst>
              <a:gd name="adj" fmla="val 7501"/>
            </a:avLst>
          </a:prstGeom>
          <a:solidFill>
            <a:srgbClr val="B6D6FC"/>
          </a:solidFill>
          <a:ln/>
        </p:spPr>
      </p:sp>
      <p:pic>
        <p:nvPicPr>
          <p:cNvPr id="8" name="Image 0" descr="preencoded.png"/>
          <p:cNvPicPr>
            <a:picLocks noChangeAspect="1"/>
          </p:cNvPicPr>
          <p:nvPr/>
        </p:nvPicPr>
        <p:blipFill>
          <a:blip r:embed="rId3"/>
          <a:stretch>
            <a:fillRect/>
          </a:stretch>
        </p:blipFill>
        <p:spPr>
          <a:xfrm>
            <a:off x="850482" y="5145980"/>
            <a:ext cx="236234" cy="189012"/>
          </a:xfrm>
          <a:prstGeom prst="rect">
            <a:avLst/>
          </a:prstGeom>
        </p:spPr>
      </p:pic>
      <p:sp>
        <p:nvSpPr>
          <p:cNvPr id="9" name="Text 6"/>
          <p:cNvSpPr/>
          <p:nvPr/>
        </p:nvSpPr>
        <p:spPr>
          <a:xfrm>
            <a:off x="1275723" y="5114528"/>
            <a:ext cx="10065490"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Nobile" pitchFamily="34" charset="0"/>
                <a:ea typeface="Nobile" pitchFamily="34" charset="-122"/>
                <a:cs typeface="Nobile" pitchFamily="34" charset="-120"/>
              </a:rPr>
              <a:t>Design decision: embedding only a subset (1k rows) keeps latency bounded and enables quick iteration during demos.</a:t>
            </a:r>
            <a:endParaRPr lang="en-US" sz="1450"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965498"/>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B1B27"/>
                </a:solidFill>
                <a:latin typeface="Corben" pitchFamily="34" charset="0"/>
                <a:ea typeface="Corben" pitchFamily="34" charset="-122"/>
                <a:cs typeface="Corben" pitchFamily="34" charset="-120"/>
              </a:rPr>
              <a:t>Evaluation harness </a:t>
            </a:r>
            <a:endParaRPr lang="en-US" sz="2950" dirty="0"/>
          </a:p>
        </p:txBody>
      </p:sp>
      <p:pic>
        <p:nvPicPr>
          <p:cNvPr id="3" name="Image 0" descr="preencoded.png"/>
          <p:cNvPicPr>
            <a:picLocks noChangeAspect="1"/>
          </p:cNvPicPr>
          <p:nvPr/>
        </p:nvPicPr>
        <p:blipFill>
          <a:blip r:embed="rId3"/>
          <a:srcRect b="53362"/>
          <a:stretch>
            <a:fillRect/>
          </a:stretch>
        </p:blipFill>
        <p:spPr>
          <a:xfrm>
            <a:off x="2951383" y="1934071"/>
            <a:ext cx="5203794" cy="1746975"/>
          </a:xfrm>
          <a:prstGeom prst="rect">
            <a:avLst/>
          </a:prstGeom>
        </p:spPr>
      </p:pic>
      <p:sp>
        <p:nvSpPr>
          <p:cNvPr id="4" name="Text 1"/>
          <p:cNvSpPr/>
          <p:nvPr/>
        </p:nvSpPr>
        <p:spPr>
          <a:xfrm>
            <a:off x="824523" y="4482138"/>
            <a:ext cx="10542953" cy="1625417"/>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4155"/>
                </a:solidFill>
                <a:latin typeface="Nobile" pitchFamily="34" charset="0"/>
                <a:ea typeface="Nobile" pitchFamily="34" charset="-122"/>
                <a:cs typeface="Nobile" pitchFamily="34" charset="-120"/>
              </a:rPr>
              <a:t> Evaluation details: 14 hand-labelled cases. SQL execution accuracy compares generated SQL against a reference by executing both and comparing result sets (order- and column-order-independent). Semantic and hybrid evaluations use standard IR metrics (precision@k, recall) against labelled relevant row IDs. Every run is timestamped and appended to a history CSV for longitudinal tracking.</a:t>
            </a:r>
            <a:endParaRPr lang="en-US" sz="1450" dirty="0"/>
          </a:p>
        </p:txBody>
      </p:sp>
      <p:sp>
        <p:nvSpPr>
          <p:cNvPr id="5" name="TextBox 4">
            <a:extLst>
              <a:ext uri="{FF2B5EF4-FFF2-40B4-BE49-F238E27FC236}">
                <a16:creationId xmlns:a16="http://schemas.microsoft.com/office/drawing/2014/main" id="{1BA088AC-4579-AB06-2B7F-D456761AFFB8}"/>
              </a:ext>
            </a:extLst>
          </p:cNvPr>
          <p:cNvSpPr txBox="1"/>
          <p:nvPr/>
        </p:nvSpPr>
        <p:spPr>
          <a:xfrm>
            <a:off x="8854831" y="2313354"/>
            <a:ext cx="758541" cy="369332"/>
          </a:xfrm>
          <a:prstGeom prst="rect">
            <a:avLst/>
          </a:prstGeom>
          <a:noFill/>
        </p:spPr>
        <p:txBody>
          <a:bodyPr wrap="none" rtlCol="0">
            <a:spAutoFit/>
          </a:bodyPr>
          <a:lstStyle/>
          <a:p>
            <a:r>
              <a:rPr lang="en-US" dirty="0"/>
              <a:t>85.7%</a:t>
            </a:r>
            <a:endParaRPr lang="en-IN" dirty="0"/>
          </a:p>
        </p:txBody>
      </p:sp>
      <p:sp>
        <p:nvSpPr>
          <p:cNvPr id="6" name="TextBox 5">
            <a:extLst>
              <a:ext uri="{FF2B5EF4-FFF2-40B4-BE49-F238E27FC236}">
                <a16:creationId xmlns:a16="http://schemas.microsoft.com/office/drawing/2014/main" id="{73AF7915-25B4-DC89-A289-5CBEE033E3B5}"/>
              </a:ext>
            </a:extLst>
          </p:cNvPr>
          <p:cNvSpPr txBox="1"/>
          <p:nvPr/>
        </p:nvSpPr>
        <p:spPr>
          <a:xfrm>
            <a:off x="8883684" y="3098815"/>
            <a:ext cx="700833" cy="369332"/>
          </a:xfrm>
          <a:prstGeom prst="rect">
            <a:avLst/>
          </a:prstGeom>
          <a:noFill/>
        </p:spPr>
        <p:txBody>
          <a:bodyPr wrap="none" rtlCol="0">
            <a:spAutoFit/>
          </a:bodyPr>
          <a:lstStyle/>
          <a:p>
            <a:r>
              <a:rPr lang="en-US" dirty="0"/>
              <a:t>100%</a:t>
            </a:r>
            <a:endParaRPr lang="en-IN"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037034"/>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B1B27"/>
                </a:solidFill>
                <a:latin typeface="Corben" pitchFamily="34" charset="0"/>
                <a:ea typeface="Corben" pitchFamily="34" charset="-122"/>
                <a:cs typeface="Corben" pitchFamily="34" charset="-120"/>
              </a:rPr>
              <a:t>Known limitations and what's next</a:t>
            </a:r>
            <a:endParaRPr lang="en-US" sz="2950" dirty="0"/>
          </a:p>
        </p:txBody>
      </p:sp>
      <p:sp>
        <p:nvSpPr>
          <p:cNvPr id="3" name="Text 1"/>
          <p:cNvSpPr/>
          <p:nvPr/>
        </p:nvSpPr>
        <p:spPr>
          <a:xfrm>
            <a:off x="661475" y="1981994"/>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Corben" pitchFamily="34" charset="0"/>
                <a:ea typeface="Corben" pitchFamily="34" charset="-122"/>
                <a:cs typeface="Corben" pitchFamily="34" charset="-120"/>
              </a:rPr>
              <a:t>Known limitations</a:t>
            </a:r>
            <a:endParaRPr lang="en-US" sz="1850" dirty="0"/>
          </a:p>
        </p:txBody>
      </p:sp>
      <p:sp>
        <p:nvSpPr>
          <p:cNvPr id="4" name="Text 2"/>
          <p:cNvSpPr/>
          <p:nvPr/>
        </p:nvSpPr>
        <p:spPr>
          <a:xfrm>
            <a:off x="661475" y="2466280"/>
            <a:ext cx="5203794" cy="3288506"/>
          </a:xfrm>
          <a:prstGeom prst="rect">
            <a:avLst/>
          </a:prstGeom>
          <a:noFill/>
          <a:ln/>
        </p:spPr>
        <p:txBody>
          <a:bodyPr wrap="square" lIns="0" tIns="0" rIns="0" bIns="0" rtlCol="0" anchor="t">
            <a:normAutofit/>
          </a:bodyPr>
          <a:lstStyle/>
          <a:p>
            <a:pPr marL="285750" lvl="0" indent="-285750">
              <a:buFont typeface="Arial" panose="020B0604020202020204" pitchFamily="34" charset="0"/>
              <a:buChar char="•"/>
            </a:pPr>
            <a:r>
              <a:rPr lang="en-IN" sz="1600" b="1" dirty="0"/>
              <a:t>Upload caps:</a:t>
            </a:r>
            <a:r>
              <a:rPr lang="en-IN" sz="1600" dirty="0"/>
              <a:t> CSVs limited to 5MB / 5,000 rows; only the first 1,000 rows get embedded even on larger files</a:t>
            </a:r>
          </a:p>
          <a:p>
            <a:pPr marL="285750" lvl="0" indent="-285750">
              <a:buFont typeface="Arial" panose="020B0604020202020204" pitchFamily="34" charset="0"/>
              <a:buChar char="•"/>
            </a:pPr>
            <a:r>
              <a:rPr lang="en-IN" sz="1600" b="1" dirty="0"/>
              <a:t>Query result caps:</a:t>
            </a:r>
            <a:r>
              <a:rPr lang="en-IN" sz="1600" dirty="0"/>
              <a:t> SQL responses auto-limited to 500 rows, semantic search considers only the top 10 nearest matches</a:t>
            </a:r>
          </a:p>
        </p:txBody>
      </p:sp>
      <p:sp>
        <p:nvSpPr>
          <p:cNvPr id="5" name="Text 3"/>
          <p:cNvSpPr/>
          <p:nvPr/>
        </p:nvSpPr>
        <p:spPr>
          <a:xfrm>
            <a:off x="6332776" y="1981994"/>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Corben" pitchFamily="34" charset="0"/>
                <a:ea typeface="Corben" pitchFamily="34" charset="-122"/>
                <a:cs typeface="Corben" pitchFamily="34" charset="-120"/>
              </a:rPr>
              <a:t>Future work</a:t>
            </a:r>
            <a:endParaRPr lang="en-US" sz="1850" dirty="0"/>
          </a:p>
        </p:txBody>
      </p:sp>
      <p:sp>
        <p:nvSpPr>
          <p:cNvPr id="6" name="Text 4"/>
          <p:cNvSpPr/>
          <p:nvPr/>
        </p:nvSpPr>
        <p:spPr>
          <a:xfrm>
            <a:off x="6332776" y="2466280"/>
            <a:ext cx="5203794" cy="2920008"/>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Create a labeled eval corpus independent of the seed schema so evaluations survive dataset swaps.</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Trigger automatic profiling on every ingestion and expose NL controls to re-run it.</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Integrate profiling/outlier views into the UI (not raw JSON).</a:t>
            </a:r>
            <a:endParaRPr lang="en-US" sz="1450" dirty="0"/>
          </a:p>
          <a:p>
            <a:pPr marL="294640" indent="-294640" algn="l">
              <a:lnSpc>
                <a:spcPct val="133000"/>
              </a:lnSpc>
              <a:buSzPct val="100000"/>
              <a:buChar char="•"/>
            </a:pPr>
            <a:r>
              <a:rPr lang="en-US" sz="1450" dirty="0">
                <a:solidFill>
                  <a:srgbClr val="404155"/>
                </a:solidFill>
                <a:latin typeface="Nobile" pitchFamily="34" charset="0"/>
                <a:ea typeface="Nobile" pitchFamily="34" charset="-122"/>
                <a:cs typeface="Nobile" pitchFamily="34" charset="-120"/>
              </a:rPr>
              <a:t>Add a manual override for auto-detected text columns and improve routing explanations for edge cases.</a:t>
            </a:r>
            <a:endParaRPr lang="en-US" sz="1450"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728067"/>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B1B27"/>
                </a:solidFill>
                <a:latin typeface="Corben" pitchFamily="34" charset="0"/>
                <a:ea typeface="Corben" pitchFamily="34" charset="-122"/>
                <a:cs typeface="Corben" pitchFamily="34" charset="-120"/>
              </a:rPr>
              <a:t>Conclusion</a:t>
            </a:r>
            <a:endParaRPr lang="en-US" sz="2950" dirty="0"/>
          </a:p>
        </p:txBody>
      </p:sp>
      <p:sp>
        <p:nvSpPr>
          <p:cNvPr id="3" name="Text 1"/>
          <p:cNvSpPr/>
          <p:nvPr/>
        </p:nvSpPr>
        <p:spPr>
          <a:xfrm>
            <a:off x="661475" y="1274335"/>
            <a:ext cx="10868745"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4155"/>
                </a:solidFill>
                <a:latin typeface="Nobile" pitchFamily="34" charset="0"/>
                <a:ea typeface="Nobile" pitchFamily="34" charset="-122"/>
                <a:cs typeface="Nobile" pitchFamily="34" charset="-120"/>
              </a:rPr>
              <a:t>DM Your Data addresses a practical unanswered question: let users ask plain-English questions over tabular data and return the appropriate kind of answer - sometimes a precise number, sometimes conceptually relevant rows. Instead of forcing one technique to do both, the system routes each query to Structured SQL, Semantic search, or a Hybrid flow and makes that routing visible and auditable.   </a:t>
            </a:r>
            <a:endParaRPr lang="en-US" sz="1450" dirty="0"/>
          </a:p>
        </p:txBody>
      </p:sp>
      <p:sp>
        <p:nvSpPr>
          <p:cNvPr id="4" name="Shape 2"/>
          <p:cNvSpPr/>
          <p:nvPr/>
        </p:nvSpPr>
        <p:spPr>
          <a:xfrm>
            <a:off x="661475" y="3000871"/>
            <a:ext cx="3496877" cy="2613918"/>
          </a:xfrm>
          <a:prstGeom prst="roundRect">
            <a:avLst>
              <a:gd name="adj" fmla="val 3037"/>
            </a:avLst>
          </a:prstGeom>
          <a:solidFill>
            <a:srgbClr val="D2D9F9"/>
          </a:solidFill>
          <a:ln w="6350">
            <a:solidFill>
              <a:srgbClr val="B8BFDF"/>
            </a:solidFill>
            <a:prstDash val="solid"/>
          </a:ln>
        </p:spPr>
      </p:sp>
      <p:sp>
        <p:nvSpPr>
          <p:cNvPr id="5" name="Text 3"/>
          <p:cNvSpPr/>
          <p:nvPr/>
        </p:nvSpPr>
        <p:spPr>
          <a:xfrm>
            <a:off x="856832" y="3196233"/>
            <a:ext cx="3106164" cy="295275"/>
          </a:xfrm>
          <a:prstGeom prst="rect">
            <a:avLst/>
          </a:prstGeom>
          <a:noFill/>
          <a:ln/>
        </p:spPr>
        <p:txBody>
          <a:bodyPr wrap="none" lIns="0" tIns="0" rIns="0" bIns="0" rtlCol="0" anchor="t"/>
          <a:lstStyle/>
          <a:p>
            <a:pPr marL="0" indent="0" algn="l">
              <a:lnSpc>
                <a:spcPct val="104000"/>
              </a:lnSpc>
              <a:buNone/>
            </a:pPr>
            <a:r>
              <a:rPr lang="en-US" sz="1850" dirty="0">
                <a:solidFill>
                  <a:srgbClr val="404155"/>
                </a:solidFill>
                <a:latin typeface="Corben" pitchFamily="34" charset="0"/>
                <a:ea typeface="Corben" pitchFamily="34" charset="-122"/>
                <a:cs typeface="Corben" pitchFamily="34" charset="-120"/>
              </a:rPr>
              <a:t>What I built</a:t>
            </a:r>
            <a:endParaRPr lang="en-US" sz="1850" dirty="0"/>
          </a:p>
        </p:txBody>
      </p:sp>
      <p:sp>
        <p:nvSpPr>
          <p:cNvPr id="6" name="Text 4"/>
          <p:cNvSpPr/>
          <p:nvPr/>
        </p:nvSpPr>
        <p:spPr>
          <a:xfrm>
            <a:off x="856832" y="3604915"/>
            <a:ext cx="3106164" cy="18145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4155"/>
                </a:solidFill>
                <a:latin typeface="Nobile" pitchFamily="34" charset="0"/>
                <a:ea typeface="Nobile" pitchFamily="34" charset="-122"/>
                <a:cs typeface="Nobile" pitchFamily="34" charset="-120"/>
              </a:rPr>
              <a:t>Schema-aware text-to-SQL with validation, pgvector semantic search, a two-tier router, profiling/outlier detection, and a CSV pipeline for rapid dataset swaps.</a:t>
            </a:r>
            <a:endParaRPr lang="en-US" sz="1450" dirty="0"/>
          </a:p>
        </p:txBody>
      </p:sp>
      <p:sp>
        <p:nvSpPr>
          <p:cNvPr id="7" name="Shape 5"/>
          <p:cNvSpPr/>
          <p:nvPr/>
        </p:nvSpPr>
        <p:spPr>
          <a:xfrm>
            <a:off x="4347359" y="3000871"/>
            <a:ext cx="3496877" cy="2613918"/>
          </a:xfrm>
          <a:prstGeom prst="roundRect">
            <a:avLst>
              <a:gd name="adj" fmla="val 3037"/>
            </a:avLst>
          </a:prstGeom>
          <a:solidFill>
            <a:srgbClr val="D2D9F9"/>
          </a:solidFill>
          <a:ln w="6350">
            <a:solidFill>
              <a:srgbClr val="B8BFDF"/>
            </a:solidFill>
            <a:prstDash val="solid"/>
          </a:ln>
        </p:spPr>
      </p:sp>
      <p:sp>
        <p:nvSpPr>
          <p:cNvPr id="8" name="Text 6"/>
          <p:cNvSpPr/>
          <p:nvPr/>
        </p:nvSpPr>
        <p:spPr>
          <a:xfrm>
            <a:off x="4542716" y="3196233"/>
            <a:ext cx="3106164" cy="295275"/>
          </a:xfrm>
          <a:prstGeom prst="rect">
            <a:avLst/>
          </a:prstGeom>
          <a:noFill/>
          <a:ln/>
        </p:spPr>
        <p:txBody>
          <a:bodyPr wrap="none" lIns="0" tIns="0" rIns="0" bIns="0" rtlCol="0" anchor="t"/>
          <a:lstStyle/>
          <a:p>
            <a:pPr marL="0" indent="0" algn="l">
              <a:lnSpc>
                <a:spcPct val="104000"/>
              </a:lnSpc>
              <a:buNone/>
            </a:pPr>
            <a:r>
              <a:rPr lang="en-US" sz="1850" dirty="0">
                <a:solidFill>
                  <a:srgbClr val="404155"/>
                </a:solidFill>
                <a:latin typeface="Corben" pitchFamily="34" charset="0"/>
                <a:ea typeface="Corben" pitchFamily="34" charset="-122"/>
                <a:cs typeface="Corben" pitchFamily="34" charset="-120"/>
              </a:rPr>
              <a:t>Key results</a:t>
            </a:r>
            <a:endParaRPr lang="en-US" sz="1850" dirty="0"/>
          </a:p>
        </p:txBody>
      </p:sp>
      <p:sp>
        <p:nvSpPr>
          <p:cNvPr id="9" name="Text 7"/>
          <p:cNvSpPr/>
          <p:nvPr/>
        </p:nvSpPr>
        <p:spPr>
          <a:xfrm>
            <a:off x="4542716" y="3604915"/>
            <a:ext cx="3106164"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4155"/>
                </a:solidFill>
                <a:latin typeface="Nobile" pitchFamily="34" charset="0"/>
                <a:ea typeface="Nobile" pitchFamily="34" charset="-122"/>
                <a:cs typeface="Nobile" pitchFamily="34" charset="-120"/>
              </a:rPr>
              <a:t>100% execution accuracy on labelled SQL cases; 85.7% routing accuracy across lanes.</a:t>
            </a:r>
            <a:endParaRPr lang="en-US" sz="1450" dirty="0"/>
          </a:p>
        </p:txBody>
      </p:sp>
      <p:sp>
        <p:nvSpPr>
          <p:cNvPr id="10" name="Shape 8"/>
          <p:cNvSpPr/>
          <p:nvPr/>
        </p:nvSpPr>
        <p:spPr>
          <a:xfrm>
            <a:off x="8033244" y="3000871"/>
            <a:ext cx="3496877" cy="2613918"/>
          </a:xfrm>
          <a:prstGeom prst="roundRect">
            <a:avLst>
              <a:gd name="adj" fmla="val 3037"/>
            </a:avLst>
          </a:prstGeom>
          <a:solidFill>
            <a:srgbClr val="D2D9F9"/>
          </a:solidFill>
          <a:ln w="6350">
            <a:solidFill>
              <a:srgbClr val="B8BFDF"/>
            </a:solidFill>
            <a:prstDash val="solid"/>
          </a:ln>
        </p:spPr>
      </p:sp>
      <p:sp>
        <p:nvSpPr>
          <p:cNvPr id="11" name="Text 9"/>
          <p:cNvSpPr/>
          <p:nvPr/>
        </p:nvSpPr>
        <p:spPr>
          <a:xfrm>
            <a:off x="8228600" y="3196233"/>
            <a:ext cx="3106164" cy="295275"/>
          </a:xfrm>
          <a:prstGeom prst="rect">
            <a:avLst/>
          </a:prstGeom>
          <a:noFill/>
          <a:ln/>
        </p:spPr>
        <p:txBody>
          <a:bodyPr wrap="none" lIns="0" tIns="0" rIns="0" bIns="0" rtlCol="0" anchor="t"/>
          <a:lstStyle/>
          <a:p>
            <a:pPr marL="0" indent="0" algn="l">
              <a:lnSpc>
                <a:spcPct val="104000"/>
              </a:lnSpc>
              <a:buNone/>
            </a:pPr>
            <a:r>
              <a:rPr lang="en-US" sz="1850" dirty="0">
                <a:solidFill>
                  <a:srgbClr val="404155"/>
                </a:solidFill>
                <a:latin typeface="Corben" pitchFamily="34" charset="0"/>
                <a:ea typeface="Corben" pitchFamily="34" charset="-122"/>
                <a:cs typeface="Corben" pitchFamily="34" charset="-120"/>
              </a:rPr>
              <a:t>Next steps</a:t>
            </a:r>
            <a:endParaRPr lang="en-US" sz="1850" dirty="0"/>
          </a:p>
        </p:txBody>
      </p:sp>
      <p:sp>
        <p:nvSpPr>
          <p:cNvPr id="12" name="Text 10"/>
          <p:cNvSpPr/>
          <p:nvPr/>
        </p:nvSpPr>
        <p:spPr>
          <a:xfrm>
            <a:off x="8228600" y="3604915"/>
            <a:ext cx="3106164"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4155"/>
                </a:solidFill>
                <a:latin typeface="Nobile" pitchFamily="34" charset="0"/>
                <a:ea typeface="Nobile" pitchFamily="34" charset="-122"/>
                <a:cs typeface="Nobile" pitchFamily="34" charset="-120"/>
              </a:rPr>
              <a:t>Independent eval set, automatic profiling on ingestion, NL routing into profiling/outliers, and manual column overrides.</a:t>
            </a:r>
            <a:endParaRPr lang="en-US" sz="1450" dirty="0"/>
          </a:p>
        </p:txBody>
      </p:sp>
      <p:sp>
        <p:nvSpPr>
          <p:cNvPr id="13" name="Text 11"/>
          <p:cNvSpPr/>
          <p:nvPr/>
        </p:nvSpPr>
        <p:spPr>
          <a:xfrm>
            <a:off x="661475" y="5827415"/>
            <a:ext cx="11478330" cy="302419"/>
          </a:xfrm>
          <a:prstGeom prst="rect">
            <a:avLst/>
          </a:prstGeom>
          <a:noFill/>
          <a:ln/>
        </p:spPr>
        <p:txBody>
          <a:bodyPr wrap="none" lIns="0" tIns="0" rIns="0" bIns="0" rtlCol="0" anchor="t"/>
          <a:lstStyle/>
          <a:p>
            <a:pPr marL="0" indent="0" algn="ctr">
              <a:lnSpc>
                <a:spcPct val="133000"/>
              </a:lnSpc>
              <a:buNone/>
            </a:pPr>
            <a:r>
              <a:rPr lang="en-US" sz="1450" dirty="0">
                <a:solidFill>
                  <a:srgbClr val="404155"/>
                </a:solidFill>
                <a:latin typeface="Nobile" pitchFamily="34" charset="0"/>
                <a:ea typeface="Nobile" pitchFamily="34" charset="-122"/>
                <a:cs typeface="Nobile" pitchFamily="34" charset="-120"/>
              </a:rPr>
              <a:t>Thank You!</a:t>
            </a:r>
            <a:endParaRPr lang="en-US" sz="1450" dirty="0"/>
          </a:p>
        </p:txBody>
      </p:sp>
      <p:sp>
        <p:nvSpPr>
          <p:cNvPr id="14" name="TextBox 13">
            <a:extLst>
              <a:ext uri="{FF2B5EF4-FFF2-40B4-BE49-F238E27FC236}">
                <a16:creationId xmlns:a16="http://schemas.microsoft.com/office/drawing/2014/main" id="{A30A0EC9-B20F-8969-488A-7FE75DE4EF07}"/>
              </a:ext>
            </a:extLst>
          </p:cNvPr>
          <p:cNvSpPr txBox="1"/>
          <p:nvPr/>
        </p:nvSpPr>
        <p:spPr>
          <a:xfrm>
            <a:off x="601784" y="2511970"/>
            <a:ext cx="3212124" cy="369332"/>
          </a:xfrm>
          <a:prstGeom prst="rect">
            <a:avLst/>
          </a:prstGeom>
          <a:noFill/>
        </p:spPr>
        <p:txBody>
          <a:bodyPr wrap="square" rtlCol="0">
            <a:spAutoFit/>
          </a:bodyPr>
          <a:lstStyle/>
          <a:p>
            <a:r>
              <a:rPr lang="en-US" dirty="0">
                <a:hlinkClick r:id="rId3"/>
              </a:rPr>
              <a:t>DM Your Data </a:t>
            </a:r>
            <a:r>
              <a:rPr lang="en-US" dirty="0" err="1">
                <a:hlinkClick r:id="rId3"/>
              </a:rPr>
              <a:t>Github</a:t>
            </a:r>
            <a:r>
              <a:rPr lang="en-US" dirty="0">
                <a:hlinkClick r:id="rId3"/>
              </a:rPr>
              <a:t> Repository</a:t>
            </a:r>
            <a:endParaRPr lang="en-IN"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TotalTime>
  <Words>1122</Words>
  <Application>Microsoft Office PowerPoint</Application>
  <PresentationFormat>Widescreen</PresentationFormat>
  <Paragraphs>103</Paragraphs>
  <Slides>12</Slides>
  <Notes>10</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Corben</vt:lpstr>
      <vt:lpstr>Nobile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Chetish</dc:creator>
  <cp:lastModifiedBy>GIRISH SAKPAL</cp:lastModifiedBy>
  <cp:revision>5</cp:revision>
  <dcterms:created xsi:type="dcterms:W3CDTF">2026-09-19T12:43:25Z</dcterms:created>
  <dcterms:modified xsi:type="dcterms:W3CDTF">2026-09-20T12:57:33Z</dcterms:modified>
</cp:coreProperties>
</file>